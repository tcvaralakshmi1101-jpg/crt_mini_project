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786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474720" cy="3474720"/>
          </a:xfrm>
          <a:prstGeom prst="ellipse">
            <a:avLst/>
          </a:prstGeom>
          <a:solidFill>
            <a:srgbClr val="0D9488">
              <a:alpha val="22000"/>
            </a:srgbClr>
          </a:solidFill>
          <a:ln w="12700">
            <a:solidFill>
              <a:srgbClr val="0D9488"/>
            </a:solidFill>
            <a:prstDash val="solid"/>
          </a:ln>
        </p:spPr>
      </p:sp>
      <p:sp>
        <p:nvSpPr>
          <p:cNvPr id="3" name="Shape 1"/>
          <p:cNvSpPr/>
          <p:nvPr/>
        </p:nvSpPr>
        <p:spPr>
          <a:xfrm>
            <a:off x="-731520" y="3840480"/>
            <a:ext cx="2286000" cy="2286000"/>
          </a:xfrm>
          <a:prstGeom prst="ellipse">
            <a:avLst/>
          </a:prstGeom>
          <a:solidFill>
            <a:srgbClr val="14B8A6">
              <a:alpha val="18000"/>
            </a:srgbClr>
          </a:solidFill>
          <a:ln w="12700">
            <a:solidFill>
              <a:srgbClr val="14B8A6"/>
            </a:solidFill>
            <a:prstDash val="solid"/>
          </a:ln>
        </p:spPr>
      </p:sp>
      <p:sp>
        <p:nvSpPr>
          <p:cNvPr id="4" name="Shape 2"/>
          <p:cNvSpPr/>
          <p:nvPr/>
        </p:nvSpPr>
        <p:spPr>
          <a:xfrm>
            <a:off x="0" y="3246120"/>
            <a:ext cx="9144000" cy="658368"/>
          </a:xfrm>
          <a:prstGeom prst="rect">
            <a:avLst/>
          </a:prstGeom>
          <a:solidFill>
            <a:srgbClr val="0D9488">
              <a:alpha val="80000"/>
            </a:srgbClr>
          </a:solidFill>
          <a:ln w="12700">
            <a:solidFill>
              <a:srgbClr val="0D9488"/>
            </a:solidFill>
            <a:prstDash val="solid"/>
          </a:ln>
        </p:spPr>
      </p:sp>
      <p:sp>
        <p:nvSpPr>
          <p:cNvPr id="5" name="Text 3"/>
          <p:cNvSpPr/>
          <p:nvPr/>
        </p:nvSpPr>
        <p:spPr>
          <a:xfrm>
            <a:off x="502920" y="411480"/>
            <a:ext cx="8229600" cy="109728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Hospital Emergency</a:t>
            </a:r>
            <a:endParaRPr lang="en-US" sz="5200" dirty="0"/>
          </a:p>
        </p:txBody>
      </p:sp>
      <p:sp>
        <p:nvSpPr>
          <p:cNvPr id="6" name="Text 4"/>
          <p:cNvSpPr/>
          <p:nvPr/>
        </p:nvSpPr>
        <p:spPr>
          <a:xfrm>
            <a:off x="502920" y="1463040"/>
            <a:ext cx="8229600" cy="1097280"/>
          </a:xfrm>
          <a:prstGeom prst="rect">
            <a:avLst/>
          </a:prstGeom>
          <a:noFill/>
          <a:ln/>
        </p:spPr>
        <p:txBody>
          <a:bodyPr wrap="square" lIns="0" tIns="0" rIns="0" bIns="0" rtlCol="0" anchor="ctr"/>
          <a:lstStyle/>
          <a:p>
            <a:pPr marL="0" indent="0" algn="ctr">
              <a:buNone/>
            </a:pPr>
            <a:r>
              <a:rPr lang="en-US" sz="5200" b="1" dirty="0">
                <a:solidFill>
                  <a:srgbClr val="14B8A6"/>
                </a:solidFill>
                <a:latin typeface="Cambria" pitchFamily="34" charset="0"/>
                <a:ea typeface="Cambria" pitchFamily="34" charset="-122"/>
                <a:cs typeface="Cambria" pitchFamily="34" charset="-120"/>
              </a:rPr>
              <a:t>Queue Management System</a:t>
            </a:r>
            <a:endParaRPr lang="en-US" sz="5200" dirty="0"/>
          </a:p>
        </p:txBody>
      </p:sp>
      <p:sp>
        <p:nvSpPr>
          <p:cNvPr id="7" name="Text 5"/>
          <p:cNvSpPr/>
          <p:nvPr/>
        </p:nvSpPr>
        <p:spPr>
          <a:xfrm>
            <a:off x="457200" y="3273552"/>
            <a:ext cx="8229600" cy="603504"/>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Max-Heap Priority Queue  ·  PostgreSQL  ·  Google Gemini AI</a:t>
            </a:r>
            <a:endParaRPr lang="en-US" sz="1500" dirty="0"/>
          </a:p>
        </p:txBody>
      </p:sp>
      <p:sp>
        <p:nvSpPr>
          <p:cNvPr id="8" name="Text 6"/>
          <p:cNvSpPr/>
          <p:nvPr/>
        </p:nvSpPr>
        <p:spPr>
          <a:xfrm>
            <a:off x="457200" y="4114800"/>
            <a:ext cx="8229600" cy="502920"/>
          </a:xfrm>
          <a:prstGeom prst="rect">
            <a:avLst/>
          </a:prstGeom>
          <a:noFill/>
          <a:ln/>
        </p:spPr>
        <p:txBody>
          <a:bodyPr wrap="square" lIns="0" tIns="0" rIns="0" bIns="0" rtlCol="0" anchor="ctr"/>
          <a:lstStyle/>
          <a:p>
            <a:pPr marL="0" indent="0" algn="ctr">
              <a:buNone/>
            </a:pPr>
            <a:r>
              <a:rPr lang="en-US" sz="1200" i="1" dirty="0">
                <a:solidFill>
                  <a:srgbClr val="CBD5E1"/>
                </a:solidFill>
                <a:latin typeface="Calibri" pitchFamily="34" charset="0"/>
                <a:ea typeface="Calibri" pitchFamily="34" charset="-122"/>
                <a:cs typeface="Calibri" pitchFamily="34" charset="-120"/>
              </a:rPr>
              <a:t>Intelligent Triage · Real-Time Prioritization · Data-Driven ER Workflows</a:t>
            </a:r>
            <a:endParaRPr lang="en-US" sz="1200" dirty="0"/>
          </a:p>
        </p:txBody>
      </p:sp>
      <p:sp>
        <p:nvSpPr>
          <p:cNvPr id="9" name="Shape 7"/>
          <p:cNvSpPr/>
          <p:nvPr/>
        </p:nvSpPr>
        <p:spPr>
          <a:xfrm>
            <a:off x="3931920" y="4663440"/>
            <a:ext cx="109728" cy="109728"/>
          </a:xfrm>
          <a:prstGeom prst="ellipse">
            <a:avLst/>
          </a:prstGeom>
          <a:solidFill>
            <a:srgbClr val="0D9488"/>
          </a:solidFill>
          <a:ln w="12700">
            <a:solidFill>
              <a:srgbClr val="0D9488"/>
            </a:solidFill>
            <a:prstDash val="solid"/>
          </a:ln>
        </p:spPr>
      </p:sp>
      <p:sp>
        <p:nvSpPr>
          <p:cNvPr id="10" name="Shape 8"/>
          <p:cNvSpPr/>
          <p:nvPr/>
        </p:nvSpPr>
        <p:spPr>
          <a:xfrm>
            <a:off x="4187952" y="4663440"/>
            <a:ext cx="109728" cy="109728"/>
          </a:xfrm>
          <a:prstGeom prst="ellipse">
            <a:avLst/>
          </a:prstGeom>
          <a:solidFill>
            <a:srgbClr val="0D9488"/>
          </a:solidFill>
          <a:ln w="12700">
            <a:solidFill>
              <a:srgbClr val="0D9488"/>
            </a:solidFill>
            <a:prstDash val="solid"/>
          </a:ln>
        </p:spPr>
      </p:sp>
      <p:sp>
        <p:nvSpPr>
          <p:cNvPr id="11" name="Shape 9"/>
          <p:cNvSpPr/>
          <p:nvPr/>
        </p:nvSpPr>
        <p:spPr>
          <a:xfrm>
            <a:off x="4443984" y="4663440"/>
            <a:ext cx="109728" cy="109728"/>
          </a:xfrm>
          <a:prstGeom prst="ellipse">
            <a:avLst/>
          </a:prstGeom>
          <a:solidFill>
            <a:srgbClr val="0D9488"/>
          </a:solidFill>
          <a:ln w="12700">
            <a:solidFill>
              <a:srgbClr val="0D9488"/>
            </a:solidFill>
            <a:prstDash val="solid"/>
          </a:ln>
        </p:spPr>
      </p:sp>
      <p:sp>
        <p:nvSpPr>
          <p:cNvPr id="12" name="Shape 10"/>
          <p:cNvSpPr/>
          <p:nvPr/>
        </p:nvSpPr>
        <p:spPr>
          <a:xfrm>
            <a:off x="4700016" y="4663440"/>
            <a:ext cx="109728" cy="109728"/>
          </a:xfrm>
          <a:prstGeom prst="ellipse">
            <a:avLst/>
          </a:prstGeom>
          <a:solidFill>
            <a:srgbClr val="0D9488"/>
          </a:solidFill>
          <a:ln w="12700">
            <a:solidFill>
              <a:srgbClr val="0D9488"/>
            </a:solidFill>
            <a:prstDash val="solid"/>
          </a:ln>
        </p:spPr>
      </p:sp>
      <p:sp>
        <p:nvSpPr>
          <p:cNvPr id="13" name="Shape 11"/>
          <p:cNvSpPr/>
          <p:nvPr/>
        </p:nvSpPr>
        <p:spPr>
          <a:xfrm>
            <a:off x="4956048" y="4663440"/>
            <a:ext cx="109728" cy="109728"/>
          </a:xfrm>
          <a:prstGeom prst="ellipse">
            <a:avLst/>
          </a:prstGeom>
          <a:solidFill>
            <a:srgbClr val="0D9488"/>
          </a:solidFill>
          <a:ln w="12700">
            <a:solidFill>
              <a:srgbClr val="0D948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2305C"/>
          </a:solidFill>
          <a:ln w="12700">
            <a:solidFill>
              <a:srgbClr val="12305C"/>
            </a:solidFill>
            <a:prstDash val="solid"/>
          </a:ln>
        </p:spPr>
      </p:sp>
      <p:sp>
        <p:nvSpPr>
          <p:cNvPr id="3" name="Shape 1"/>
          <p:cNvSpPr/>
          <p:nvPr/>
        </p:nvSpPr>
        <p:spPr>
          <a:xfrm>
            <a:off x="0" y="0"/>
            <a:ext cx="3291840" cy="502920"/>
          </a:xfrm>
          <a:prstGeom prst="rect">
            <a:avLst/>
          </a:prstGeom>
          <a:solidFill>
            <a:srgbClr val="0D9488"/>
          </a:solidFill>
          <a:ln w="12700">
            <a:solidFill>
              <a:srgbClr val="0D9488"/>
            </a:solidFill>
            <a:prstDash val="solid"/>
          </a:ln>
        </p:spPr>
      </p:sp>
      <p:sp>
        <p:nvSpPr>
          <p:cNvPr id="4" name="Text 2"/>
          <p:cNvSpPr/>
          <p:nvPr/>
        </p:nvSpPr>
        <p:spPr>
          <a:xfrm>
            <a:off x="164592" y="685800"/>
            <a:ext cx="2834640" cy="146304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PROBLEM</a:t>
            </a:r>
            <a:endParaRPr lang="en-US" sz="2800" dirty="0"/>
          </a:p>
          <a:p>
            <a:pPr marL="0" indent="0" algn="l">
              <a:buNone/>
            </a:pPr>
            <a:r>
              <a:rPr lang="en-US" sz="2800" b="1" dirty="0">
                <a:solidFill>
                  <a:srgbClr val="FFFFFF"/>
                </a:solidFill>
                <a:latin typeface="Cambria" pitchFamily="34" charset="0"/>
                <a:ea typeface="Cambria" pitchFamily="34" charset="-122"/>
                <a:cs typeface="Cambria" pitchFamily="34" charset="-120"/>
              </a:rPr>
              <a:t>STATEMENT</a:t>
            </a:r>
            <a:endParaRPr lang="en-US" sz="2800" dirty="0"/>
          </a:p>
        </p:txBody>
      </p:sp>
      <p:sp>
        <p:nvSpPr>
          <p:cNvPr id="5" name="Shape 3"/>
          <p:cNvSpPr/>
          <p:nvPr/>
        </p:nvSpPr>
        <p:spPr>
          <a:xfrm>
            <a:off x="201168" y="2331720"/>
            <a:ext cx="2834640" cy="713232"/>
          </a:xfrm>
          <a:prstGeom prst="roundRect">
            <a:avLst>
              <a:gd name="adj" fmla="val 10256"/>
            </a:avLst>
          </a:prstGeom>
          <a:solidFill>
            <a:srgbClr val="1E3A5F"/>
          </a:solidFill>
          <a:ln w="12700">
            <a:solidFill>
              <a:srgbClr val="0D9488"/>
            </a:solidFill>
            <a:prstDash val="solid"/>
          </a:ln>
        </p:spPr>
      </p:sp>
      <p:sp>
        <p:nvSpPr>
          <p:cNvPr id="6" name="Text 4"/>
          <p:cNvSpPr/>
          <p:nvPr/>
        </p:nvSpPr>
        <p:spPr>
          <a:xfrm>
            <a:off x="292608" y="2359152"/>
            <a:ext cx="2651760" cy="347472"/>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  Time-Critical</a:t>
            </a:r>
            <a:endParaRPr lang="en-US" sz="1200" dirty="0"/>
          </a:p>
        </p:txBody>
      </p:sp>
      <p:sp>
        <p:nvSpPr>
          <p:cNvPr id="7" name="Text 5"/>
          <p:cNvSpPr/>
          <p:nvPr/>
        </p:nvSpPr>
        <p:spPr>
          <a:xfrm>
            <a:off x="292608" y="2688336"/>
            <a:ext cx="2651760" cy="256032"/>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Every second matters</a:t>
            </a:r>
            <a:endParaRPr lang="en-US" sz="1000" dirty="0"/>
          </a:p>
        </p:txBody>
      </p:sp>
      <p:sp>
        <p:nvSpPr>
          <p:cNvPr id="8" name="Shape 6"/>
          <p:cNvSpPr/>
          <p:nvPr/>
        </p:nvSpPr>
        <p:spPr>
          <a:xfrm>
            <a:off x="201168" y="3200400"/>
            <a:ext cx="2834640" cy="713232"/>
          </a:xfrm>
          <a:prstGeom prst="roundRect">
            <a:avLst>
              <a:gd name="adj" fmla="val 10256"/>
            </a:avLst>
          </a:prstGeom>
          <a:solidFill>
            <a:srgbClr val="1E3A5F"/>
          </a:solidFill>
          <a:ln w="12700">
            <a:solidFill>
              <a:srgbClr val="0D9488"/>
            </a:solidFill>
            <a:prstDash val="solid"/>
          </a:ln>
        </p:spPr>
      </p:sp>
      <p:sp>
        <p:nvSpPr>
          <p:cNvPr id="9" name="Text 7"/>
          <p:cNvSpPr/>
          <p:nvPr/>
        </p:nvSpPr>
        <p:spPr>
          <a:xfrm>
            <a:off x="292608" y="3227832"/>
            <a:ext cx="2651760" cy="347472"/>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  ER Workflow</a:t>
            </a:r>
            <a:endParaRPr lang="en-US" sz="1200" dirty="0"/>
          </a:p>
        </p:txBody>
      </p:sp>
      <p:sp>
        <p:nvSpPr>
          <p:cNvPr id="10" name="Text 8"/>
          <p:cNvSpPr/>
          <p:nvPr/>
        </p:nvSpPr>
        <p:spPr>
          <a:xfrm>
            <a:off x="292608" y="3557016"/>
            <a:ext cx="2651760" cy="256032"/>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Complex environment</a:t>
            </a:r>
            <a:endParaRPr lang="en-US" sz="1000" dirty="0"/>
          </a:p>
        </p:txBody>
      </p:sp>
      <p:sp>
        <p:nvSpPr>
          <p:cNvPr id="11" name="Shape 9"/>
          <p:cNvSpPr/>
          <p:nvPr/>
        </p:nvSpPr>
        <p:spPr>
          <a:xfrm>
            <a:off x="201168" y="4069080"/>
            <a:ext cx="2834640" cy="713232"/>
          </a:xfrm>
          <a:prstGeom prst="roundRect">
            <a:avLst>
              <a:gd name="adj" fmla="val 10256"/>
            </a:avLst>
          </a:prstGeom>
          <a:solidFill>
            <a:srgbClr val="1E3A5F"/>
          </a:solidFill>
          <a:ln w="12700">
            <a:solidFill>
              <a:srgbClr val="0D9488"/>
            </a:solidFill>
            <a:prstDash val="solid"/>
          </a:ln>
        </p:spPr>
      </p:sp>
      <p:sp>
        <p:nvSpPr>
          <p:cNvPr id="12" name="Text 10"/>
          <p:cNvSpPr/>
          <p:nvPr/>
        </p:nvSpPr>
        <p:spPr>
          <a:xfrm>
            <a:off x="292608" y="4096512"/>
            <a:ext cx="2651760" cy="347472"/>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  Patient Safety</a:t>
            </a:r>
            <a:endParaRPr lang="en-US" sz="1200" dirty="0"/>
          </a:p>
        </p:txBody>
      </p:sp>
      <p:sp>
        <p:nvSpPr>
          <p:cNvPr id="13" name="Text 11"/>
          <p:cNvSpPr/>
          <p:nvPr/>
        </p:nvSpPr>
        <p:spPr>
          <a:xfrm>
            <a:off x="292608" y="4425696"/>
            <a:ext cx="2651760" cy="256032"/>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Lives at risk</a:t>
            </a:r>
            <a:endParaRPr lang="en-US" sz="1000" dirty="0"/>
          </a:p>
        </p:txBody>
      </p:sp>
      <p:sp>
        <p:nvSpPr>
          <p:cNvPr id="14" name="Text 12"/>
          <p:cNvSpPr/>
          <p:nvPr/>
        </p:nvSpPr>
        <p:spPr>
          <a:xfrm>
            <a:off x="3566160" y="256032"/>
            <a:ext cx="5303520" cy="530352"/>
          </a:xfrm>
          <a:prstGeom prst="rect">
            <a:avLst/>
          </a:prstGeom>
          <a:noFill/>
          <a:ln/>
        </p:spPr>
        <p:txBody>
          <a:bodyPr wrap="square" lIns="0" tIns="0" rIns="0" bIns="0" rtlCol="0" anchor="ctr"/>
          <a:lstStyle/>
          <a:p>
            <a:pPr marL="0" indent="0" algn="l">
              <a:buNone/>
            </a:pPr>
            <a:r>
              <a:rPr lang="en-US" sz="2000" b="1" dirty="0">
                <a:solidFill>
                  <a:srgbClr val="0B1F3A"/>
                </a:solidFill>
                <a:latin typeface="Cambria" pitchFamily="34" charset="0"/>
                <a:ea typeface="Cambria" pitchFamily="34" charset="-122"/>
                <a:cs typeface="Cambria" pitchFamily="34" charset="-120"/>
              </a:rPr>
              <a:t>The Challenge in Emergency Rooms</a:t>
            </a:r>
            <a:endParaRPr lang="en-US" sz="2000" dirty="0"/>
          </a:p>
        </p:txBody>
      </p:sp>
      <p:sp>
        <p:nvSpPr>
          <p:cNvPr id="15" name="Shape 13"/>
          <p:cNvSpPr/>
          <p:nvPr/>
        </p:nvSpPr>
        <p:spPr>
          <a:xfrm>
            <a:off x="3566160" y="804672"/>
            <a:ext cx="5303520" cy="36576"/>
          </a:xfrm>
          <a:prstGeom prst="rect">
            <a:avLst/>
          </a:prstGeom>
          <a:solidFill>
            <a:srgbClr val="0D9488"/>
          </a:solidFill>
          <a:ln w="12700">
            <a:solidFill>
              <a:srgbClr val="0D9488"/>
            </a:solidFill>
            <a:prstDash val="solid"/>
          </a:ln>
        </p:spPr>
      </p:sp>
      <p:sp>
        <p:nvSpPr>
          <p:cNvPr id="16" name="Text 14"/>
          <p:cNvSpPr/>
          <p:nvPr/>
        </p:nvSpPr>
        <p:spPr>
          <a:xfrm>
            <a:off x="3566160" y="960120"/>
            <a:ext cx="5303520" cy="1261872"/>
          </a:xfrm>
          <a:prstGeom prst="rect">
            <a:avLst/>
          </a:prstGeom>
          <a:noFill/>
          <a:ln/>
        </p:spPr>
        <p:txBody>
          <a:bodyPr wrap="square" lIns="0" tIns="0" rIns="0" bIns="0" rtlCol="0" anchor="t"/>
          <a:lstStyle/>
          <a:p>
            <a:pPr marL="0" indent="0" algn="l">
              <a:buNone/>
            </a:pPr>
            <a:r>
              <a:rPr lang="en-US" sz="1120" dirty="0">
                <a:solidFill>
                  <a:srgbClr val="1E293B"/>
                </a:solidFill>
                <a:latin typeface="Calibri" pitchFamily="34" charset="0"/>
                <a:ea typeface="Calibri" pitchFamily="34" charset="-122"/>
                <a:cs typeface="Calibri" pitchFamily="34" charset="-120"/>
              </a:rPr>
              <a:t>In a busy emergency room, patients arrive at all hours with very different medical needs. The traditional approach of serving people in the order they arrive often puts less urgent patients ahead of those who are critically ill. This is a serious problem because a patient who walks in with a minor sprain should not be treated before someone who is having a heart attack — even if the sprain patient arrived first.</a:t>
            </a:r>
            <a:endParaRPr lang="en-US" sz="1120" dirty="0"/>
          </a:p>
        </p:txBody>
      </p:sp>
      <p:sp>
        <p:nvSpPr>
          <p:cNvPr id="17" name="Text 15"/>
          <p:cNvSpPr/>
          <p:nvPr/>
        </p:nvSpPr>
        <p:spPr>
          <a:xfrm>
            <a:off x="3566160" y="2331720"/>
            <a:ext cx="5303520" cy="1261872"/>
          </a:xfrm>
          <a:prstGeom prst="rect">
            <a:avLst/>
          </a:prstGeom>
          <a:noFill/>
          <a:ln/>
        </p:spPr>
        <p:txBody>
          <a:bodyPr wrap="square" lIns="0" tIns="0" rIns="0" bIns="0" rtlCol="0" anchor="t"/>
          <a:lstStyle/>
          <a:p>
            <a:pPr marL="0" indent="0" algn="l">
              <a:buNone/>
            </a:pPr>
            <a:r>
              <a:rPr lang="en-US" sz="1120" dirty="0">
                <a:solidFill>
                  <a:srgbClr val="1E293B"/>
                </a:solidFill>
                <a:latin typeface="Calibri" pitchFamily="34" charset="0"/>
                <a:ea typeface="Calibri" pitchFamily="34" charset="-122"/>
                <a:cs typeface="Calibri" pitchFamily="34" charset="-120"/>
              </a:rPr>
              <a:t>Manual triage systems rely heavily on individual nurses and doctors making quick decisions, which can lead to inconsistency, human error, and delays during high-pressure situations. Without a smart, automated system, there is no guarantee that the sickest patient is always treated first. Low-priority patients can also end up waiting indefinitely — a problem called "queue starvation" — while critical cases keep arriving.</a:t>
            </a:r>
            <a:endParaRPr lang="en-US" sz="1120" dirty="0"/>
          </a:p>
        </p:txBody>
      </p:sp>
      <p:sp>
        <p:nvSpPr>
          <p:cNvPr id="18" name="Shape 16"/>
          <p:cNvSpPr/>
          <p:nvPr/>
        </p:nvSpPr>
        <p:spPr>
          <a:xfrm>
            <a:off x="3520440" y="3675888"/>
            <a:ext cx="5394960" cy="1207008"/>
          </a:xfrm>
          <a:prstGeom prst="roundRect">
            <a:avLst>
              <a:gd name="adj" fmla="val 6061"/>
            </a:avLst>
          </a:prstGeom>
          <a:solidFill>
            <a:srgbClr val="CCFBF1"/>
          </a:solidFill>
          <a:ln w="12700">
            <a:solidFill>
              <a:srgbClr val="0D9488"/>
            </a:solidFill>
            <a:prstDash val="solid"/>
          </a:ln>
        </p:spPr>
      </p:sp>
      <p:sp>
        <p:nvSpPr>
          <p:cNvPr id="19" name="Text 17"/>
          <p:cNvSpPr/>
          <p:nvPr/>
        </p:nvSpPr>
        <p:spPr>
          <a:xfrm>
            <a:off x="3657600" y="3749040"/>
            <a:ext cx="5120640" cy="1078992"/>
          </a:xfrm>
          <a:prstGeom prst="rect">
            <a:avLst/>
          </a:prstGeom>
          <a:noFill/>
          <a:ln/>
        </p:spPr>
        <p:txBody>
          <a:bodyPr wrap="square" lIns="0" tIns="0" rIns="0" bIns="0" rtlCol="0" anchor="t"/>
          <a:lstStyle/>
          <a:p>
            <a:pPr marL="0" indent="0" algn="l">
              <a:buNone/>
            </a:pPr>
            <a:r>
              <a:rPr lang="en-US" sz="1120" dirty="0">
                <a:solidFill>
                  <a:srgbClr val="0A4A42"/>
                </a:solidFill>
                <a:latin typeface="Calibri" pitchFamily="34" charset="0"/>
                <a:ea typeface="Calibri" pitchFamily="34" charset="-122"/>
                <a:cs typeface="Calibri" pitchFamily="34" charset="-120"/>
              </a:rPr>
              <a:t>What hospitals truly need is an intelligent, real-time system that automatically sorts patients by medical urgency, uses AI to support triage decisions, ensures no patient is ever forgotten, and keeps a complete record of every action taken — so that the right patient always gets care at the right time.</a:t>
            </a:r>
            <a:endParaRPr lang="en-US" sz="11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100" b="1" kern="0" spc="300" dirty="0">
                <a:solidFill>
                  <a:srgbClr val="FFFFFF"/>
                </a:solidFill>
                <a:latin typeface="Cambria" pitchFamily="34" charset="0"/>
                <a:ea typeface="Cambria" pitchFamily="34" charset="-122"/>
                <a:cs typeface="Cambria" pitchFamily="34" charset="-120"/>
              </a:rPr>
              <a:t>TECH STACK  &amp;  ARCHITECTURE</a:t>
            </a:r>
            <a:endParaRPr lang="en-US" sz="2100" dirty="0"/>
          </a:p>
        </p:txBody>
      </p:sp>
      <p:sp>
        <p:nvSpPr>
          <p:cNvPr id="4" name="Text 2"/>
          <p:cNvSpPr/>
          <p:nvPr/>
        </p:nvSpPr>
        <p:spPr>
          <a:xfrm>
            <a:off x="274320" y="777240"/>
            <a:ext cx="8595360" cy="347472"/>
          </a:xfrm>
          <a:prstGeom prst="rect">
            <a:avLst/>
          </a:prstGeom>
          <a:noFill/>
          <a:ln/>
        </p:spPr>
        <p:txBody>
          <a:bodyPr wrap="square" lIns="0" tIns="0" rIns="0" bIns="0" rtlCol="0" anchor="ctr"/>
          <a:lstStyle/>
          <a:p>
            <a:pPr marL="0" indent="0" algn="l">
              <a:buNone/>
            </a:pPr>
            <a:r>
              <a:rPr lang="en-US" sz="1400" b="1" dirty="0">
                <a:solidFill>
                  <a:srgbClr val="14B8A6"/>
                </a:solidFill>
                <a:latin typeface="Cambria" pitchFamily="34" charset="0"/>
                <a:ea typeface="Cambria" pitchFamily="34" charset="-122"/>
                <a:cs typeface="Cambria" pitchFamily="34" charset="-120"/>
              </a:rPr>
              <a:t>What Technologies Are Used?</a:t>
            </a:r>
            <a:endParaRPr lang="en-US" sz="1400" dirty="0"/>
          </a:p>
        </p:txBody>
      </p:sp>
      <p:sp>
        <p:nvSpPr>
          <p:cNvPr id="5" name="Shape 3"/>
          <p:cNvSpPr/>
          <p:nvPr/>
        </p:nvSpPr>
        <p:spPr>
          <a:xfrm>
            <a:off x="182880" y="1188720"/>
            <a:ext cx="1627632" cy="1508760"/>
          </a:xfrm>
          <a:prstGeom prst="roundRect">
            <a:avLst>
              <a:gd name="adj" fmla="val 6061"/>
            </a:avLst>
          </a:prstGeom>
          <a:solidFill>
            <a:srgbClr val="0D9488"/>
          </a:solidFill>
          <a:ln w="12700">
            <a:solidFill>
              <a:srgbClr val="FFFFFF"/>
            </a:solidFill>
            <a:prstDash val="solid"/>
          </a:ln>
          <a:effectLst>
            <a:outerShdw blurRad="101600" dist="38100" dir="2700000" algn="bl" rotWithShape="0">
              <a:srgbClr val="000000">
                <a:alpha val="18000"/>
              </a:srgbClr>
            </a:outerShdw>
          </a:effectLst>
        </p:spPr>
      </p:sp>
      <p:sp>
        <p:nvSpPr>
          <p:cNvPr id="6" name="Text 4"/>
          <p:cNvSpPr/>
          <p:nvPr/>
        </p:nvSpPr>
        <p:spPr>
          <a:xfrm>
            <a:off x="228600" y="1216152"/>
            <a:ext cx="1536192" cy="29260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Backend</a:t>
            </a:r>
            <a:endParaRPr lang="en-US" sz="900" dirty="0"/>
          </a:p>
        </p:txBody>
      </p:sp>
      <p:sp>
        <p:nvSpPr>
          <p:cNvPr id="7" name="Text 5"/>
          <p:cNvSpPr/>
          <p:nvPr/>
        </p:nvSpPr>
        <p:spPr>
          <a:xfrm>
            <a:off x="228600" y="1481328"/>
            <a:ext cx="1536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Python + Flask</a:t>
            </a:r>
            <a:endParaRPr lang="en-US" sz="1200" dirty="0"/>
          </a:p>
        </p:txBody>
      </p:sp>
      <p:sp>
        <p:nvSpPr>
          <p:cNvPr id="8" name="Text 6"/>
          <p:cNvSpPr/>
          <p:nvPr/>
        </p:nvSpPr>
        <p:spPr>
          <a:xfrm>
            <a:off x="228600" y="1883664"/>
            <a:ext cx="1536192" cy="74980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Runs the server and handles all requests from the website</a:t>
            </a:r>
            <a:endParaRPr lang="en-US" sz="950" dirty="0"/>
          </a:p>
        </p:txBody>
      </p:sp>
      <p:sp>
        <p:nvSpPr>
          <p:cNvPr id="9" name="Shape 7"/>
          <p:cNvSpPr/>
          <p:nvPr/>
        </p:nvSpPr>
        <p:spPr>
          <a:xfrm>
            <a:off x="1956816" y="1188720"/>
            <a:ext cx="1627632" cy="1508760"/>
          </a:xfrm>
          <a:prstGeom prst="roundRect">
            <a:avLst>
              <a:gd name="adj" fmla="val 6061"/>
            </a:avLst>
          </a:prstGeom>
          <a:solidFill>
            <a:srgbClr val="1D5FA1"/>
          </a:solidFill>
          <a:ln w="12700">
            <a:solidFill>
              <a:srgbClr val="FFFFFF"/>
            </a:solidFill>
            <a:prstDash val="solid"/>
          </a:ln>
          <a:effectLst>
            <a:outerShdw blurRad="101600" dist="38100" dir="2700000" algn="bl" rotWithShape="0">
              <a:srgbClr val="000000">
                <a:alpha val="18000"/>
              </a:srgbClr>
            </a:outerShdw>
          </a:effectLst>
        </p:spPr>
      </p:sp>
      <p:sp>
        <p:nvSpPr>
          <p:cNvPr id="10" name="Text 8"/>
          <p:cNvSpPr/>
          <p:nvPr/>
        </p:nvSpPr>
        <p:spPr>
          <a:xfrm>
            <a:off x="2002536" y="1216152"/>
            <a:ext cx="1536192" cy="29260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Database</a:t>
            </a:r>
            <a:endParaRPr lang="en-US" sz="900" dirty="0"/>
          </a:p>
        </p:txBody>
      </p:sp>
      <p:sp>
        <p:nvSpPr>
          <p:cNvPr id="11" name="Text 9"/>
          <p:cNvSpPr/>
          <p:nvPr/>
        </p:nvSpPr>
        <p:spPr>
          <a:xfrm>
            <a:off x="2002536" y="1481328"/>
            <a:ext cx="1536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12" name="Text 10"/>
          <p:cNvSpPr/>
          <p:nvPr/>
        </p:nvSpPr>
        <p:spPr>
          <a:xfrm>
            <a:off x="2002536" y="1883664"/>
            <a:ext cx="1536192" cy="74980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Stores all patient data safely. Acts as the master record book</a:t>
            </a:r>
            <a:endParaRPr lang="en-US" sz="950" dirty="0"/>
          </a:p>
        </p:txBody>
      </p:sp>
      <p:sp>
        <p:nvSpPr>
          <p:cNvPr id="13" name="Shape 11"/>
          <p:cNvSpPr/>
          <p:nvPr/>
        </p:nvSpPr>
        <p:spPr>
          <a:xfrm>
            <a:off x="3730752" y="1188720"/>
            <a:ext cx="1627632" cy="1508760"/>
          </a:xfrm>
          <a:prstGeom prst="roundRect">
            <a:avLst>
              <a:gd name="adj" fmla="val 6061"/>
            </a:avLst>
          </a:prstGeom>
          <a:solidFill>
            <a:srgbClr val="7C3AED"/>
          </a:solidFill>
          <a:ln w="12700">
            <a:solidFill>
              <a:srgbClr val="FFFFFF"/>
            </a:solidFill>
            <a:prstDash val="solid"/>
          </a:ln>
          <a:effectLst>
            <a:outerShdw blurRad="101600" dist="38100" dir="2700000" algn="bl" rotWithShape="0">
              <a:srgbClr val="000000">
                <a:alpha val="18000"/>
              </a:srgbClr>
            </a:outerShdw>
          </a:effectLst>
        </p:spPr>
      </p:sp>
      <p:sp>
        <p:nvSpPr>
          <p:cNvPr id="14" name="Text 12"/>
          <p:cNvSpPr/>
          <p:nvPr/>
        </p:nvSpPr>
        <p:spPr>
          <a:xfrm>
            <a:off x="3776472" y="1216152"/>
            <a:ext cx="1536192" cy="29260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AI Brain</a:t>
            </a:r>
            <a:endParaRPr lang="en-US" sz="900" dirty="0"/>
          </a:p>
        </p:txBody>
      </p:sp>
      <p:sp>
        <p:nvSpPr>
          <p:cNvPr id="15" name="Text 13"/>
          <p:cNvSpPr/>
          <p:nvPr/>
        </p:nvSpPr>
        <p:spPr>
          <a:xfrm>
            <a:off x="3776472" y="1481328"/>
            <a:ext cx="1536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Google Gemini AI</a:t>
            </a:r>
            <a:endParaRPr lang="en-US" sz="1200" dirty="0"/>
          </a:p>
        </p:txBody>
      </p:sp>
      <p:sp>
        <p:nvSpPr>
          <p:cNvPr id="16" name="Text 14"/>
          <p:cNvSpPr/>
          <p:nvPr/>
        </p:nvSpPr>
        <p:spPr>
          <a:xfrm>
            <a:off x="3776472" y="1883664"/>
            <a:ext cx="1536192" cy="74980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Reads patient symptoms and suggests the correct priority level</a:t>
            </a:r>
            <a:endParaRPr lang="en-US" sz="950" dirty="0"/>
          </a:p>
        </p:txBody>
      </p:sp>
      <p:sp>
        <p:nvSpPr>
          <p:cNvPr id="17" name="Shape 15"/>
          <p:cNvSpPr/>
          <p:nvPr/>
        </p:nvSpPr>
        <p:spPr>
          <a:xfrm>
            <a:off x="5504688" y="1188720"/>
            <a:ext cx="1627632" cy="1508760"/>
          </a:xfrm>
          <a:prstGeom prst="roundRect">
            <a:avLst>
              <a:gd name="adj" fmla="val 6061"/>
            </a:avLst>
          </a:prstGeom>
          <a:solidFill>
            <a:srgbClr val="B45309"/>
          </a:solidFill>
          <a:ln w="12700">
            <a:solidFill>
              <a:srgbClr val="FFFFFF"/>
            </a:solidFill>
            <a:prstDash val="solid"/>
          </a:ln>
          <a:effectLst>
            <a:outerShdw blurRad="101600" dist="38100" dir="2700000" algn="bl" rotWithShape="0">
              <a:srgbClr val="000000">
                <a:alpha val="18000"/>
              </a:srgbClr>
            </a:outerShdw>
          </a:effectLst>
        </p:spPr>
      </p:sp>
      <p:sp>
        <p:nvSpPr>
          <p:cNvPr id="18" name="Text 16"/>
          <p:cNvSpPr/>
          <p:nvPr/>
        </p:nvSpPr>
        <p:spPr>
          <a:xfrm>
            <a:off x="5550408" y="1216152"/>
            <a:ext cx="1536192" cy="29260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Speed Engine</a:t>
            </a:r>
            <a:endParaRPr lang="en-US" sz="900" dirty="0"/>
          </a:p>
        </p:txBody>
      </p:sp>
      <p:sp>
        <p:nvSpPr>
          <p:cNvPr id="19" name="Text 17"/>
          <p:cNvSpPr/>
          <p:nvPr/>
        </p:nvSpPr>
        <p:spPr>
          <a:xfrm>
            <a:off x="5550408" y="1481328"/>
            <a:ext cx="1536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Max-Heap Queue</a:t>
            </a:r>
            <a:endParaRPr lang="en-US" sz="1200" dirty="0"/>
          </a:p>
        </p:txBody>
      </p:sp>
      <p:sp>
        <p:nvSpPr>
          <p:cNvPr id="20" name="Text 18"/>
          <p:cNvSpPr/>
          <p:nvPr/>
        </p:nvSpPr>
        <p:spPr>
          <a:xfrm>
            <a:off x="5550408" y="1883664"/>
            <a:ext cx="1536192" cy="74980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Keeps patients sorted by urgency. Fastest data structure for this job</a:t>
            </a:r>
            <a:endParaRPr lang="en-US" sz="950" dirty="0"/>
          </a:p>
        </p:txBody>
      </p:sp>
      <p:sp>
        <p:nvSpPr>
          <p:cNvPr id="21" name="Shape 19"/>
          <p:cNvSpPr/>
          <p:nvPr/>
        </p:nvSpPr>
        <p:spPr>
          <a:xfrm>
            <a:off x="7278624" y="1188720"/>
            <a:ext cx="1627632" cy="1508760"/>
          </a:xfrm>
          <a:prstGeom prst="roundRect">
            <a:avLst>
              <a:gd name="adj" fmla="val 6061"/>
            </a:avLst>
          </a:prstGeom>
          <a:solidFill>
            <a:srgbClr val="065F46"/>
          </a:solidFill>
          <a:ln w="12700">
            <a:solidFill>
              <a:srgbClr val="FFFFFF"/>
            </a:solidFill>
            <a:prstDash val="solid"/>
          </a:ln>
          <a:effectLst>
            <a:outerShdw blurRad="101600" dist="38100" dir="2700000" algn="bl" rotWithShape="0">
              <a:srgbClr val="000000">
                <a:alpha val="18000"/>
              </a:srgbClr>
            </a:outerShdw>
          </a:effectLst>
        </p:spPr>
      </p:sp>
      <p:sp>
        <p:nvSpPr>
          <p:cNvPr id="22" name="Text 20"/>
          <p:cNvSpPr/>
          <p:nvPr/>
        </p:nvSpPr>
        <p:spPr>
          <a:xfrm>
            <a:off x="7324344" y="1216152"/>
            <a:ext cx="1536192" cy="29260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Screen</a:t>
            </a:r>
            <a:endParaRPr lang="en-US" sz="900" dirty="0"/>
          </a:p>
        </p:txBody>
      </p:sp>
      <p:sp>
        <p:nvSpPr>
          <p:cNvPr id="23" name="Text 21"/>
          <p:cNvSpPr/>
          <p:nvPr/>
        </p:nvSpPr>
        <p:spPr>
          <a:xfrm>
            <a:off x="7324344" y="1481328"/>
            <a:ext cx="1536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HTML + JS UI</a:t>
            </a:r>
            <a:endParaRPr lang="en-US" sz="1200" dirty="0"/>
          </a:p>
        </p:txBody>
      </p:sp>
      <p:sp>
        <p:nvSpPr>
          <p:cNvPr id="24" name="Text 22"/>
          <p:cNvSpPr/>
          <p:nvPr/>
        </p:nvSpPr>
        <p:spPr>
          <a:xfrm>
            <a:off x="7324344" y="1883664"/>
            <a:ext cx="1536192" cy="74980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The dark clinical dashboard doctors use on their screen</a:t>
            </a:r>
            <a:endParaRPr lang="en-US" sz="950" dirty="0"/>
          </a:p>
        </p:txBody>
      </p:sp>
      <p:sp>
        <p:nvSpPr>
          <p:cNvPr id="25" name="Text 23"/>
          <p:cNvSpPr/>
          <p:nvPr/>
        </p:nvSpPr>
        <p:spPr>
          <a:xfrm>
            <a:off x="274320" y="2852928"/>
            <a:ext cx="8595360" cy="347472"/>
          </a:xfrm>
          <a:prstGeom prst="rect">
            <a:avLst/>
          </a:prstGeom>
          <a:noFill/>
          <a:ln/>
        </p:spPr>
        <p:txBody>
          <a:bodyPr wrap="square" lIns="0" tIns="0" rIns="0" bIns="0" rtlCol="0" anchor="ctr"/>
          <a:lstStyle/>
          <a:p>
            <a:pPr marL="0" indent="0" algn="l">
              <a:buNone/>
            </a:pPr>
            <a:r>
              <a:rPr lang="en-US" sz="1400" b="1" dirty="0">
                <a:solidFill>
                  <a:srgbClr val="14B8A6"/>
                </a:solidFill>
                <a:latin typeface="Cambria" pitchFamily="34" charset="0"/>
                <a:ea typeface="Cambria" pitchFamily="34" charset="-122"/>
                <a:cs typeface="Cambria" pitchFamily="34" charset="-120"/>
              </a:rPr>
              <a:t>How the System Is Connected — Step by Step:</a:t>
            </a:r>
            <a:endParaRPr lang="en-US" sz="1400" dirty="0"/>
          </a:p>
        </p:txBody>
      </p:sp>
      <p:sp>
        <p:nvSpPr>
          <p:cNvPr id="26" name="Shape 24"/>
          <p:cNvSpPr/>
          <p:nvPr/>
        </p:nvSpPr>
        <p:spPr>
          <a:xfrm>
            <a:off x="164592" y="3310128"/>
            <a:ext cx="1627632" cy="1481328"/>
          </a:xfrm>
          <a:prstGeom prst="roundRect">
            <a:avLst>
              <a:gd name="adj" fmla="val 4938"/>
            </a:avLst>
          </a:prstGeom>
          <a:solidFill>
            <a:srgbClr val="1E3A5F"/>
          </a:solidFill>
          <a:ln w="12700">
            <a:solidFill>
              <a:srgbClr val="0D9488"/>
            </a:solidFill>
            <a:prstDash val="solid"/>
          </a:ln>
          <a:effectLst>
            <a:outerShdw blurRad="101600" dist="38100" dir="2700000" algn="bl" rotWithShape="0">
              <a:srgbClr val="000000">
                <a:alpha val="18000"/>
              </a:srgbClr>
            </a:outerShdw>
          </a:effectLst>
        </p:spPr>
      </p:sp>
      <p:sp>
        <p:nvSpPr>
          <p:cNvPr id="27" name="Text 25"/>
          <p:cNvSpPr/>
          <p:nvPr/>
        </p:nvSpPr>
        <p:spPr>
          <a:xfrm>
            <a:off x="210312" y="3346704"/>
            <a:ext cx="153619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Doctor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Enters Data</a:t>
            </a:r>
            <a:endParaRPr lang="en-US" sz="1200" dirty="0"/>
          </a:p>
        </p:txBody>
      </p:sp>
      <p:sp>
        <p:nvSpPr>
          <p:cNvPr id="28" name="Text 26"/>
          <p:cNvSpPr/>
          <p:nvPr/>
        </p:nvSpPr>
        <p:spPr>
          <a:xfrm>
            <a:off x="210312" y="4005072"/>
            <a:ext cx="1536192" cy="65836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Types patient name, age &amp; symptoms</a:t>
            </a:r>
            <a:endParaRPr lang="en-US" sz="950" dirty="0"/>
          </a:p>
        </p:txBody>
      </p:sp>
      <p:sp>
        <p:nvSpPr>
          <p:cNvPr id="29" name="Shape 27"/>
          <p:cNvSpPr/>
          <p:nvPr/>
        </p:nvSpPr>
        <p:spPr>
          <a:xfrm>
            <a:off x="786384" y="3154680"/>
            <a:ext cx="274320" cy="274320"/>
          </a:xfrm>
          <a:prstGeom prst="ellipse">
            <a:avLst/>
          </a:prstGeom>
          <a:solidFill>
            <a:srgbClr val="F59E0B"/>
          </a:solidFill>
          <a:ln w="12700">
            <a:solidFill>
              <a:srgbClr val="F59E0B"/>
            </a:solidFill>
            <a:prstDash val="solid"/>
          </a:ln>
        </p:spPr>
      </p:sp>
      <p:sp>
        <p:nvSpPr>
          <p:cNvPr id="30" name="Text 28"/>
          <p:cNvSpPr/>
          <p:nvPr/>
        </p:nvSpPr>
        <p:spPr>
          <a:xfrm>
            <a:off x="786384" y="3154680"/>
            <a:ext cx="274320" cy="274320"/>
          </a:xfrm>
          <a:prstGeom prst="rect">
            <a:avLst/>
          </a:prstGeom>
          <a:noFill/>
          <a:ln/>
        </p:spPr>
        <p:txBody>
          <a:bodyPr wrap="square" lIns="0" tIns="0" rIns="0" bIns="0" rtlCol="0" anchor="ctr"/>
          <a:lstStyle/>
          <a:p>
            <a:pPr marL="0" indent="0" algn="ctr">
              <a:buNone/>
            </a:pPr>
            <a:r>
              <a:rPr lang="en-US" sz="1000" b="1" dirty="0">
                <a:solidFill>
                  <a:srgbClr val="0B1F3A"/>
                </a:solidFill>
              </a:rPr>
              <a:t>1</a:t>
            </a:r>
            <a:endParaRPr lang="en-US" sz="1000" dirty="0"/>
          </a:p>
        </p:txBody>
      </p:sp>
      <p:sp>
        <p:nvSpPr>
          <p:cNvPr id="31" name="Text 29"/>
          <p:cNvSpPr/>
          <p:nvPr/>
        </p:nvSpPr>
        <p:spPr>
          <a:xfrm>
            <a:off x="1828800" y="3913632"/>
            <a:ext cx="256032" cy="256032"/>
          </a:xfrm>
          <a:prstGeom prst="rect">
            <a:avLst/>
          </a:prstGeom>
          <a:noFill/>
          <a:ln/>
        </p:spPr>
        <p:txBody>
          <a:bodyPr wrap="square" lIns="0" tIns="0" rIns="0" bIns="0" rtlCol="0" anchor="ctr"/>
          <a:lstStyle/>
          <a:p>
            <a:pPr marL="0" indent="0" algn="ctr">
              <a:buNone/>
            </a:pPr>
            <a:r>
              <a:rPr lang="en-US" sz="1300" dirty="0">
                <a:solidFill>
                  <a:srgbClr val="14B8A6"/>
                </a:solidFill>
              </a:rPr>
              <a:t>▶</a:t>
            </a:r>
            <a:endParaRPr lang="en-US" sz="1300" dirty="0"/>
          </a:p>
        </p:txBody>
      </p:sp>
      <p:sp>
        <p:nvSpPr>
          <p:cNvPr id="32" name="Shape 30"/>
          <p:cNvSpPr/>
          <p:nvPr/>
        </p:nvSpPr>
        <p:spPr>
          <a:xfrm>
            <a:off x="1993392" y="3310128"/>
            <a:ext cx="1627632" cy="1481328"/>
          </a:xfrm>
          <a:prstGeom prst="roundRect">
            <a:avLst>
              <a:gd name="adj" fmla="val 4938"/>
            </a:avLst>
          </a:prstGeom>
          <a:solidFill>
            <a:srgbClr val="0D9488"/>
          </a:solidFill>
          <a:ln w="12700">
            <a:solidFill>
              <a:srgbClr val="0D9488"/>
            </a:solidFill>
            <a:prstDash val="solid"/>
          </a:ln>
          <a:effectLst>
            <a:outerShdw blurRad="101600" dist="38100" dir="2700000" algn="bl" rotWithShape="0">
              <a:srgbClr val="000000">
                <a:alpha val="18000"/>
              </a:srgbClr>
            </a:outerShdw>
          </a:effectLst>
        </p:spPr>
      </p:sp>
      <p:sp>
        <p:nvSpPr>
          <p:cNvPr id="33" name="Text 31"/>
          <p:cNvSpPr/>
          <p:nvPr/>
        </p:nvSpPr>
        <p:spPr>
          <a:xfrm>
            <a:off x="2039112" y="3346704"/>
            <a:ext cx="153619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Flask API</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Receives</a:t>
            </a:r>
            <a:endParaRPr lang="en-US" sz="1200" dirty="0"/>
          </a:p>
        </p:txBody>
      </p:sp>
      <p:sp>
        <p:nvSpPr>
          <p:cNvPr id="34" name="Text 32"/>
          <p:cNvSpPr/>
          <p:nvPr/>
        </p:nvSpPr>
        <p:spPr>
          <a:xfrm>
            <a:off x="2039112" y="4005072"/>
            <a:ext cx="1536192" cy="65836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Server gets the request</a:t>
            </a:r>
            <a:endParaRPr lang="en-US" sz="950" dirty="0"/>
          </a:p>
        </p:txBody>
      </p:sp>
      <p:sp>
        <p:nvSpPr>
          <p:cNvPr id="35" name="Shape 33"/>
          <p:cNvSpPr/>
          <p:nvPr/>
        </p:nvSpPr>
        <p:spPr>
          <a:xfrm>
            <a:off x="2615184" y="3154680"/>
            <a:ext cx="274320" cy="274320"/>
          </a:xfrm>
          <a:prstGeom prst="ellipse">
            <a:avLst/>
          </a:prstGeom>
          <a:solidFill>
            <a:srgbClr val="F59E0B"/>
          </a:solidFill>
          <a:ln w="12700">
            <a:solidFill>
              <a:srgbClr val="F59E0B"/>
            </a:solidFill>
            <a:prstDash val="solid"/>
          </a:ln>
        </p:spPr>
      </p:sp>
      <p:sp>
        <p:nvSpPr>
          <p:cNvPr id="36" name="Text 34"/>
          <p:cNvSpPr/>
          <p:nvPr/>
        </p:nvSpPr>
        <p:spPr>
          <a:xfrm>
            <a:off x="2615184" y="3154680"/>
            <a:ext cx="274320" cy="274320"/>
          </a:xfrm>
          <a:prstGeom prst="rect">
            <a:avLst/>
          </a:prstGeom>
          <a:noFill/>
          <a:ln/>
        </p:spPr>
        <p:txBody>
          <a:bodyPr wrap="square" lIns="0" tIns="0" rIns="0" bIns="0" rtlCol="0" anchor="ctr"/>
          <a:lstStyle/>
          <a:p>
            <a:pPr marL="0" indent="0" algn="ctr">
              <a:buNone/>
            </a:pPr>
            <a:r>
              <a:rPr lang="en-US" sz="1000" b="1" dirty="0">
                <a:solidFill>
                  <a:srgbClr val="0B1F3A"/>
                </a:solidFill>
              </a:rPr>
              <a:t>2</a:t>
            </a:r>
            <a:endParaRPr lang="en-US" sz="1000" dirty="0"/>
          </a:p>
        </p:txBody>
      </p:sp>
      <p:sp>
        <p:nvSpPr>
          <p:cNvPr id="37" name="Text 35"/>
          <p:cNvSpPr/>
          <p:nvPr/>
        </p:nvSpPr>
        <p:spPr>
          <a:xfrm>
            <a:off x="3657600" y="3913632"/>
            <a:ext cx="256032" cy="256032"/>
          </a:xfrm>
          <a:prstGeom prst="rect">
            <a:avLst/>
          </a:prstGeom>
          <a:noFill/>
          <a:ln/>
        </p:spPr>
        <p:txBody>
          <a:bodyPr wrap="square" lIns="0" tIns="0" rIns="0" bIns="0" rtlCol="0" anchor="ctr"/>
          <a:lstStyle/>
          <a:p>
            <a:pPr marL="0" indent="0" algn="ctr">
              <a:buNone/>
            </a:pPr>
            <a:r>
              <a:rPr lang="en-US" sz="1300" dirty="0">
                <a:solidFill>
                  <a:srgbClr val="14B8A6"/>
                </a:solidFill>
              </a:rPr>
              <a:t>▶</a:t>
            </a:r>
            <a:endParaRPr lang="en-US" sz="1300" dirty="0"/>
          </a:p>
        </p:txBody>
      </p:sp>
      <p:sp>
        <p:nvSpPr>
          <p:cNvPr id="38" name="Shape 36"/>
          <p:cNvSpPr/>
          <p:nvPr/>
        </p:nvSpPr>
        <p:spPr>
          <a:xfrm>
            <a:off x="3822192" y="3310128"/>
            <a:ext cx="1627632" cy="1481328"/>
          </a:xfrm>
          <a:prstGeom prst="roundRect">
            <a:avLst>
              <a:gd name="adj" fmla="val 4938"/>
            </a:avLst>
          </a:prstGeom>
          <a:solidFill>
            <a:srgbClr val="7C3AED"/>
          </a:solidFill>
          <a:ln w="12700">
            <a:solidFill>
              <a:srgbClr val="0D9488"/>
            </a:solidFill>
            <a:prstDash val="solid"/>
          </a:ln>
          <a:effectLst>
            <a:outerShdw blurRad="101600" dist="38100" dir="2700000" algn="bl" rotWithShape="0">
              <a:srgbClr val="000000">
                <a:alpha val="18000"/>
              </a:srgbClr>
            </a:outerShdw>
          </a:effectLst>
        </p:spPr>
      </p:sp>
      <p:sp>
        <p:nvSpPr>
          <p:cNvPr id="39" name="Text 37"/>
          <p:cNvSpPr/>
          <p:nvPr/>
        </p:nvSpPr>
        <p:spPr>
          <a:xfrm>
            <a:off x="3867912" y="3346704"/>
            <a:ext cx="153619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Gemini AI</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Suggests</a:t>
            </a:r>
            <a:endParaRPr lang="en-US" sz="1200" dirty="0"/>
          </a:p>
        </p:txBody>
      </p:sp>
      <p:sp>
        <p:nvSpPr>
          <p:cNvPr id="40" name="Text 38"/>
          <p:cNvSpPr/>
          <p:nvPr/>
        </p:nvSpPr>
        <p:spPr>
          <a:xfrm>
            <a:off x="3867912" y="4005072"/>
            <a:ext cx="1536192" cy="65836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AI picks priority 1–5</a:t>
            </a:r>
            <a:endParaRPr lang="en-US" sz="950" dirty="0"/>
          </a:p>
        </p:txBody>
      </p:sp>
      <p:sp>
        <p:nvSpPr>
          <p:cNvPr id="41" name="Shape 39"/>
          <p:cNvSpPr/>
          <p:nvPr/>
        </p:nvSpPr>
        <p:spPr>
          <a:xfrm>
            <a:off x="4443984" y="3154680"/>
            <a:ext cx="274320" cy="274320"/>
          </a:xfrm>
          <a:prstGeom prst="ellipse">
            <a:avLst/>
          </a:prstGeom>
          <a:solidFill>
            <a:srgbClr val="F59E0B"/>
          </a:solidFill>
          <a:ln w="12700">
            <a:solidFill>
              <a:srgbClr val="F59E0B"/>
            </a:solidFill>
            <a:prstDash val="solid"/>
          </a:ln>
        </p:spPr>
      </p:sp>
      <p:sp>
        <p:nvSpPr>
          <p:cNvPr id="42" name="Text 40"/>
          <p:cNvSpPr/>
          <p:nvPr/>
        </p:nvSpPr>
        <p:spPr>
          <a:xfrm>
            <a:off x="4443984" y="3154680"/>
            <a:ext cx="274320" cy="274320"/>
          </a:xfrm>
          <a:prstGeom prst="rect">
            <a:avLst/>
          </a:prstGeom>
          <a:noFill/>
          <a:ln/>
        </p:spPr>
        <p:txBody>
          <a:bodyPr wrap="square" lIns="0" tIns="0" rIns="0" bIns="0" rtlCol="0" anchor="ctr"/>
          <a:lstStyle/>
          <a:p>
            <a:pPr marL="0" indent="0" algn="ctr">
              <a:buNone/>
            </a:pPr>
            <a:r>
              <a:rPr lang="en-US" sz="1000" b="1" dirty="0">
                <a:solidFill>
                  <a:srgbClr val="0B1F3A"/>
                </a:solidFill>
              </a:rPr>
              <a:t>3</a:t>
            </a:r>
            <a:endParaRPr lang="en-US" sz="1000" dirty="0"/>
          </a:p>
        </p:txBody>
      </p:sp>
      <p:sp>
        <p:nvSpPr>
          <p:cNvPr id="43" name="Text 41"/>
          <p:cNvSpPr/>
          <p:nvPr/>
        </p:nvSpPr>
        <p:spPr>
          <a:xfrm>
            <a:off x="5486400" y="3913632"/>
            <a:ext cx="256032" cy="256032"/>
          </a:xfrm>
          <a:prstGeom prst="rect">
            <a:avLst/>
          </a:prstGeom>
          <a:noFill/>
          <a:ln/>
        </p:spPr>
        <p:txBody>
          <a:bodyPr wrap="square" lIns="0" tIns="0" rIns="0" bIns="0" rtlCol="0" anchor="ctr"/>
          <a:lstStyle/>
          <a:p>
            <a:pPr marL="0" indent="0" algn="ctr">
              <a:buNone/>
            </a:pPr>
            <a:r>
              <a:rPr lang="en-US" sz="1300" dirty="0">
                <a:solidFill>
                  <a:srgbClr val="14B8A6"/>
                </a:solidFill>
              </a:rPr>
              <a:t>▶</a:t>
            </a:r>
            <a:endParaRPr lang="en-US" sz="1300" dirty="0"/>
          </a:p>
        </p:txBody>
      </p:sp>
      <p:sp>
        <p:nvSpPr>
          <p:cNvPr id="44" name="Shape 42"/>
          <p:cNvSpPr/>
          <p:nvPr/>
        </p:nvSpPr>
        <p:spPr>
          <a:xfrm>
            <a:off x="5650992" y="3310128"/>
            <a:ext cx="1627632" cy="1481328"/>
          </a:xfrm>
          <a:prstGeom prst="roundRect">
            <a:avLst>
              <a:gd name="adj" fmla="val 4938"/>
            </a:avLst>
          </a:prstGeom>
          <a:solidFill>
            <a:srgbClr val="065F46"/>
          </a:solidFill>
          <a:ln w="12700">
            <a:solidFill>
              <a:srgbClr val="0D9488"/>
            </a:solidFill>
            <a:prstDash val="solid"/>
          </a:ln>
          <a:effectLst>
            <a:outerShdw blurRad="101600" dist="38100" dir="2700000" algn="bl" rotWithShape="0">
              <a:srgbClr val="000000">
                <a:alpha val="18000"/>
              </a:srgbClr>
            </a:outerShdw>
          </a:effectLst>
        </p:spPr>
      </p:sp>
      <p:sp>
        <p:nvSpPr>
          <p:cNvPr id="45" name="Text 43"/>
          <p:cNvSpPr/>
          <p:nvPr/>
        </p:nvSpPr>
        <p:spPr>
          <a:xfrm>
            <a:off x="5696712" y="3346704"/>
            <a:ext cx="153619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Heap Queue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Updates</a:t>
            </a:r>
            <a:endParaRPr lang="en-US" sz="1200" dirty="0"/>
          </a:p>
        </p:txBody>
      </p:sp>
      <p:sp>
        <p:nvSpPr>
          <p:cNvPr id="46" name="Text 44"/>
          <p:cNvSpPr/>
          <p:nvPr/>
        </p:nvSpPr>
        <p:spPr>
          <a:xfrm>
            <a:off x="5696712" y="4005072"/>
            <a:ext cx="1536192" cy="65836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Patient sorted instantly</a:t>
            </a:r>
            <a:endParaRPr lang="en-US" sz="950" dirty="0"/>
          </a:p>
        </p:txBody>
      </p:sp>
      <p:sp>
        <p:nvSpPr>
          <p:cNvPr id="47" name="Shape 45"/>
          <p:cNvSpPr/>
          <p:nvPr/>
        </p:nvSpPr>
        <p:spPr>
          <a:xfrm>
            <a:off x="6272784" y="3154680"/>
            <a:ext cx="274320" cy="274320"/>
          </a:xfrm>
          <a:prstGeom prst="ellipse">
            <a:avLst/>
          </a:prstGeom>
          <a:solidFill>
            <a:srgbClr val="F59E0B"/>
          </a:solidFill>
          <a:ln w="12700">
            <a:solidFill>
              <a:srgbClr val="F59E0B"/>
            </a:solidFill>
            <a:prstDash val="solid"/>
          </a:ln>
        </p:spPr>
      </p:sp>
      <p:sp>
        <p:nvSpPr>
          <p:cNvPr id="48" name="Text 46"/>
          <p:cNvSpPr/>
          <p:nvPr/>
        </p:nvSpPr>
        <p:spPr>
          <a:xfrm>
            <a:off x="6272784" y="3154680"/>
            <a:ext cx="274320" cy="274320"/>
          </a:xfrm>
          <a:prstGeom prst="rect">
            <a:avLst/>
          </a:prstGeom>
          <a:noFill/>
          <a:ln/>
        </p:spPr>
        <p:txBody>
          <a:bodyPr wrap="square" lIns="0" tIns="0" rIns="0" bIns="0" rtlCol="0" anchor="ctr"/>
          <a:lstStyle/>
          <a:p>
            <a:pPr marL="0" indent="0" algn="ctr">
              <a:buNone/>
            </a:pPr>
            <a:r>
              <a:rPr lang="en-US" sz="1000" b="1" dirty="0">
                <a:solidFill>
                  <a:srgbClr val="0B1F3A"/>
                </a:solidFill>
              </a:rPr>
              <a:t>4</a:t>
            </a:r>
            <a:endParaRPr lang="en-US" sz="1000" dirty="0"/>
          </a:p>
        </p:txBody>
      </p:sp>
      <p:sp>
        <p:nvSpPr>
          <p:cNvPr id="49" name="Text 47"/>
          <p:cNvSpPr/>
          <p:nvPr/>
        </p:nvSpPr>
        <p:spPr>
          <a:xfrm>
            <a:off x="7315200" y="3913632"/>
            <a:ext cx="256032" cy="256032"/>
          </a:xfrm>
          <a:prstGeom prst="rect">
            <a:avLst/>
          </a:prstGeom>
          <a:noFill/>
          <a:ln/>
        </p:spPr>
        <p:txBody>
          <a:bodyPr wrap="square" lIns="0" tIns="0" rIns="0" bIns="0" rtlCol="0" anchor="ctr"/>
          <a:lstStyle/>
          <a:p>
            <a:pPr marL="0" indent="0" algn="ctr">
              <a:buNone/>
            </a:pPr>
            <a:r>
              <a:rPr lang="en-US" sz="1300" dirty="0">
                <a:solidFill>
                  <a:srgbClr val="14B8A6"/>
                </a:solidFill>
              </a:rPr>
              <a:t>▶</a:t>
            </a:r>
            <a:endParaRPr lang="en-US" sz="1300" dirty="0"/>
          </a:p>
        </p:txBody>
      </p:sp>
      <p:sp>
        <p:nvSpPr>
          <p:cNvPr id="50" name="Shape 48"/>
          <p:cNvSpPr/>
          <p:nvPr/>
        </p:nvSpPr>
        <p:spPr>
          <a:xfrm>
            <a:off x="7388352" y="3310128"/>
            <a:ext cx="1627632" cy="1481328"/>
          </a:xfrm>
          <a:prstGeom prst="roundRect">
            <a:avLst>
              <a:gd name="adj" fmla="val 4938"/>
            </a:avLst>
          </a:prstGeom>
          <a:solidFill>
            <a:srgbClr val="1D5FA1"/>
          </a:solidFill>
          <a:ln w="12700">
            <a:solidFill>
              <a:srgbClr val="0D9488"/>
            </a:solidFill>
            <a:prstDash val="solid"/>
          </a:ln>
          <a:effectLst>
            <a:outerShdw blurRad="101600" dist="38100" dir="2700000" algn="bl" rotWithShape="0">
              <a:srgbClr val="000000">
                <a:alpha val="18000"/>
              </a:srgbClr>
            </a:outerShdw>
          </a:effectLst>
        </p:spPr>
      </p:sp>
      <p:sp>
        <p:nvSpPr>
          <p:cNvPr id="51" name="Text 49"/>
          <p:cNvSpPr/>
          <p:nvPr/>
        </p:nvSpPr>
        <p:spPr>
          <a:xfrm>
            <a:off x="7434072" y="3346704"/>
            <a:ext cx="153619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Saved</a:t>
            </a:r>
            <a:endParaRPr lang="en-US" sz="1200" dirty="0"/>
          </a:p>
        </p:txBody>
      </p:sp>
      <p:sp>
        <p:nvSpPr>
          <p:cNvPr id="52" name="Text 50"/>
          <p:cNvSpPr/>
          <p:nvPr/>
        </p:nvSpPr>
        <p:spPr>
          <a:xfrm>
            <a:off x="7434072" y="4005072"/>
            <a:ext cx="1536192" cy="658368"/>
          </a:xfrm>
          <a:prstGeom prst="rect">
            <a:avLst/>
          </a:prstGeom>
          <a:noFill/>
          <a:ln/>
        </p:spPr>
        <p:txBody>
          <a:bodyPr wrap="square" lIns="0" tIns="0" rIns="0" bIns="0" rtlCol="0" anchor="t"/>
          <a:lstStyle/>
          <a:p>
            <a:pPr marL="0" indent="0" algn="ctr">
              <a:buNone/>
            </a:pPr>
            <a:r>
              <a:rPr lang="en-US" sz="950" dirty="0">
                <a:solidFill>
                  <a:srgbClr val="CCFBF1"/>
                </a:solidFill>
                <a:latin typeface="Calibri" pitchFamily="34" charset="0"/>
                <a:ea typeface="Calibri" pitchFamily="34" charset="-122"/>
                <a:cs typeface="Calibri" pitchFamily="34" charset="-120"/>
              </a:rPr>
              <a:t>Stored permanently in DB</a:t>
            </a:r>
            <a:endParaRPr lang="en-US" sz="950" dirty="0"/>
          </a:p>
        </p:txBody>
      </p:sp>
      <p:sp>
        <p:nvSpPr>
          <p:cNvPr id="53" name="Shape 51"/>
          <p:cNvSpPr/>
          <p:nvPr/>
        </p:nvSpPr>
        <p:spPr>
          <a:xfrm>
            <a:off x="8010144" y="3154680"/>
            <a:ext cx="274320" cy="274320"/>
          </a:xfrm>
          <a:prstGeom prst="ellipse">
            <a:avLst/>
          </a:prstGeom>
          <a:solidFill>
            <a:srgbClr val="F59E0B"/>
          </a:solidFill>
          <a:ln w="12700">
            <a:solidFill>
              <a:srgbClr val="F59E0B"/>
            </a:solidFill>
            <a:prstDash val="solid"/>
          </a:ln>
        </p:spPr>
      </p:sp>
      <p:sp>
        <p:nvSpPr>
          <p:cNvPr id="54" name="Text 52"/>
          <p:cNvSpPr/>
          <p:nvPr/>
        </p:nvSpPr>
        <p:spPr>
          <a:xfrm>
            <a:off x="8010144" y="3154680"/>
            <a:ext cx="274320" cy="274320"/>
          </a:xfrm>
          <a:prstGeom prst="rect">
            <a:avLst/>
          </a:prstGeom>
          <a:noFill/>
          <a:ln/>
        </p:spPr>
        <p:txBody>
          <a:bodyPr wrap="square" lIns="0" tIns="0" rIns="0" bIns="0" rtlCol="0" anchor="ctr"/>
          <a:lstStyle/>
          <a:p>
            <a:pPr marL="0" indent="0" algn="ctr">
              <a:buNone/>
            </a:pPr>
            <a:r>
              <a:rPr lang="en-US" sz="1000" b="1" dirty="0">
                <a:solidFill>
                  <a:srgbClr val="0B1F3A"/>
                </a:solidFill>
              </a:rPr>
              <a:t>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200" b="1" kern="0" spc="300" dirty="0">
                <a:solidFill>
                  <a:srgbClr val="FFFFFF"/>
                </a:solidFill>
                <a:latin typeface="Cambria" pitchFamily="34" charset="0"/>
                <a:ea typeface="Cambria" pitchFamily="34" charset="-122"/>
                <a:cs typeface="Cambria" pitchFamily="34" charset="-120"/>
              </a:rPr>
              <a:t>HOW IT WORKS</a:t>
            </a:r>
            <a:endParaRPr lang="en-US" sz="2200" dirty="0"/>
          </a:p>
        </p:txBody>
      </p:sp>
      <p:sp>
        <p:nvSpPr>
          <p:cNvPr id="4" name="Shape 2"/>
          <p:cNvSpPr/>
          <p:nvPr/>
        </p:nvSpPr>
        <p:spPr>
          <a:xfrm>
            <a:off x="201168" y="822960"/>
            <a:ext cx="3291840" cy="548640"/>
          </a:xfrm>
          <a:prstGeom prst="roundRect">
            <a:avLst>
              <a:gd name="adj" fmla="val 15000"/>
            </a:avLst>
          </a:prstGeom>
          <a:solidFill>
            <a:srgbClr val="0B1F3A"/>
          </a:solidFill>
          <a:ln w="12700">
            <a:solidFill>
              <a:srgbClr val="FFFFFF"/>
            </a:solidFill>
            <a:prstDash val="solid"/>
          </a:ln>
          <a:effectLst>
            <a:outerShdw blurRad="101600" dist="38100" dir="2700000" algn="bl" rotWithShape="0">
              <a:srgbClr val="000000">
                <a:alpha val="18000"/>
              </a:srgbClr>
            </a:outerShdw>
          </a:effectLst>
        </p:spPr>
      </p:sp>
      <p:sp>
        <p:nvSpPr>
          <p:cNvPr id="5" name="Text 3"/>
          <p:cNvSpPr/>
          <p:nvPr/>
        </p:nvSpPr>
        <p:spPr>
          <a:xfrm>
            <a:off x="228600" y="850392"/>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 Arrives at ER</a:t>
            </a:r>
            <a:endParaRPr lang="en-US" sz="1200" dirty="0"/>
          </a:p>
        </p:txBody>
      </p:sp>
      <p:sp>
        <p:nvSpPr>
          <p:cNvPr id="6" name="Text 4"/>
          <p:cNvSpPr/>
          <p:nvPr/>
        </p:nvSpPr>
        <p:spPr>
          <a:xfrm>
            <a:off x="1554480" y="1371600"/>
            <a:ext cx="548640" cy="164592"/>
          </a:xfrm>
          <a:prstGeom prst="rect">
            <a:avLst/>
          </a:prstGeom>
          <a:noFill/>
          <a:ln/>
        </p:spPr>
        <p:txBody>
          <a:bodyPr wrap="square" lIns="0" tIns="0" rIns="0" bIns="0" rtlCol="0" anchor="ctr"/>
          <a:lstStyle/>
          <a:p>
            <a:pPr marL="0" indent="0" algn="ctr">
              <a:buNone/>
            </a:pPr>
            <a:r>
              <a:rPr lang="en-US" sz="1100" dirty="0">
                <a:solidFill>
                  <a:srgbClr val="0D9488"/>
                </a:solidFill>
              </a:rPr>
              <a:t>▼</a:t>
            </a:r>
            <a:endParaRPr lang="en-US" sz="1100" dirty="0"/>
          </a:p>
        </p:txBody>
      </p:sp>
      <p:sp>
        <p:nvSpPr>
          <p:cNvPr id="7" name="Shape 5"/>
          <p:cNvSpPr/>
          <p:nvPr/>
        </p:nvSpPr>
        <p:spPr>
          <a:xfrm>
            <a:off x="201168" y="1517904"/>
            <a:ext cx="3291840" cy="548640"/>
          </a:xfrm>
          <a:prstGeom prst="roundRect">
            <a:avLst>
              <a:gd name="adj" fmla="val 15000"/>
            </a:avLst>
          </a:prstGeom>
          <a:solidFill>
            <a:srgbClr val="1E3A5F"/>
          </a:solidFill>
          <a:ln w="12700">
            <a:solidFill>
              <a:srgbClr val="FFFFFF"/>
            </a:solidFill>
            <a:prstDash val="solid"/>
          </a:ln>
          <a:effectLst>
            <a:outerShdw blurRad="101600" dist="38100" dir="2700000" algn="bl" rotWithShape="0">
              <a:srgbClr val="000000">
                <a:alpha val="18000"/>
              </a:srgbClr>
            </a:outerShdw>
          </a:effectLst>
        </p:spPr>
      </p:sp>
      <p:sp>
        <p:nvSpPr>
          <p:cNvPr id="8" name="Text 6"/>
          <p:cNvSpPr/>
          <p:nvPr/>
        </p:nvSpPr>
        <p:spPr>
          <a:xfrm>
            <a:off x="228600" y="1545336"/>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Enter Symptoms &amp; Details</a:t>
            </a:r>
            <a:endParaRPr lang="en-US" sz="1200" dirty="0"/>
          </a:p>
        </p:txBody>
      </p:sp>
      <p:sp>
        <p:nvSpPr>
          <p:cNvPr id="9" name="Text 7"/>
          <p:cNvSpPr/>
          <p:nvPr/>
        </p:nvSpPr>
        <p:spPr>
          <a:xfrm>
            <a:off x="1554480" y="2066544"/>
            <a:ext cx="548640" cy="164592"/>
          </a:xfrm>
          <a:prstGeom prst="rect">
            <a:avLst/>
          </a:prstGeom>
          <a:noFill/>
          <a:ln/>
        </p:spPr>
        <p:txBody>
          <a:bodyPr wrap="square" lIns="0" tIns="0" rIns="0" bIns="0" rtlCol="0" anchor="ctr"/>
          <a:lstStyle/>
          <a:p>
            <a:pPr marL="0" indent="0" algn="ctr">
              <a:buNone/>
            </a:pPr>
            <a:r>
              <a:rPr lang="en-US" sz="1100" dirty="0">
                <a:solidFill>
                  <a:srgbClr val="0D9488"/>
                </a:solidFill>
              </a:rPr>
              <a:t>▼</a:t>
            </a:r>
            <a:endParaRPr lang="en-US" sz="1100" dirty="0"/>
          </a:p>
        </p:txBody>
      </p:sp>
      <p:sp>
        <p:nvSpPr>
          <p:cNvPr id="10" name="Shape 8"/>
          <p:cNvSpPr/>
          <p:nvPr/>
        </p:nvSpPr>
        <p:spPr>
          <a:xfrm>
            <a:off x="201168" y="2212848"/>
            <a:ext cx="3291840" cy="548640"/>
          </a:xfrm>
          <a:prstGeom prst="roundRect">
            <a:avLst>
              <a:gd name="adj" fmla="val 15000"/>
            </a:avLst>
          </a:prstGeom>
          <a:solidFill>
            <a:srgbClr val="7C3AED"/>
          </a:solidFill>
          <a:ln w="12700">
            <a:solidFill>
              <a:srgbClr val="FFFFFF"/>
            </a:solidFill>
            <a:prstDash val="solid"/>
          </a:ln>
          <a:effectLst>
            <a:outerShdw blurRad="101600" dist="38100" dir="2700000" algn="bl" rotWithShape="0">
              <a:srgbClr val="000000">
                <a:alpha val="18000"/>
              </a:srgbClr>
            </a:outerShdw>
          </a:effectLst>
        </p:spPr>
      </p:sp>
      <p:sp>
        <p:nvSpPr>
          <p:cNvPr id="11" name="Text 9"/>
          <p:cNvSpPr/>
          <p:nvPr/>
        </p:nvSpPr>
        <p:spPr>
          <a:xfrm>
            <a:off x="228600" y="2240280"/>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Gemini AI Suggests Priority</a:t>
            </a:r>
            <a:endParaRPr lang="en-US" sz="1200" dirty="0"/>
          </a:p>
        </p:txBody>
      </p:sp>
      <p:sp>
        <p:nvSpPr>
          <p:cNvPr id="12" name="Text 10"/>
          <p:cNvSpPr/>
          <p:nvPr/>
        </p:nvSpPr>
        <p:spPr>
          <a:xfrm>
            <a:off x="1554480" y="2761488"/>
            <a:ext cx="548640" cy="164592"/>
          </a:xfrm>
          <a:prstGeom prst="rect">
            <a:avLst/>
          </a:prstGeom>
          <a:noFill/>
          <a:ln/>
        </p:spPr>
        <p:txBody>
          <a:bodyPr wrap="square" lIns="0" tIns="0" rIns="0" bIns="0" rtlCol="0" anchor="ctr"/>
          <a:lstStyle/>
          <a:p>
            <a:pPr marL="0" indent="0" algn="ctr">
              <a:buNone/>
            </a:pPr>
            <a:r>
              <a:rPr lang="en-US" sz="1100" dirty="0">
                <a:solidFill>
                  <a:srgbClr val="0D9488"/>
                </a:solidFill>
              </a:rPr>
              <a:t>▼</a:t>
            </a:r>
            <a:endParaRPr lang="en-US" sz="1100" dirty="0"/>
          </a:p>
        </p:txBody>
      </p:sp>
      <p:sp>
        <p:nvSpPr>
          <p:cNvPr id="13" name="Shape 11"/>
          <p:cNvSpPr/>
          <p:nvPr/>
        </p:nvSpPr>
        <p:spPr>
          <a:xfrm>
            <a:off x="201168" y="2907792"/>
            <a:ext cx="3291840" cy="548640"/>
          </a:xfrm>
          <a:prstGeom prst="roundRect">
            <a:avLst>
              <a:gd name="adj" fmla="val 15000"/>
            </a:avLst>
          </a:prstGeom>
          <a:solidFill>
            <a:srgbClr val="B45309"/>
          </a:solidFill>
          <a:ln w="12700">
            <a:solidFill>
              <a:srgbClr val="FFFFFF"/>
            </a:solidFill>
            <a:prstDash val="solid"/>
          </a:ln>
          <a:effectLst>
            <a:outerShdw blurRad="101600" dist="38100" dir="2700000" algn="bl" rotWithShape="0">
              <a:srgbClr val="000000">
                <a:alpha val="18000"/>
              </a:srgbClr>
            </a:outerShdw>
          </a:effectLst>
        </p:spPr>
      </p:sp>
      <p:sp>
        <p:nvSpPr>
          <p:cNvPr id="14" name="Text 12"/>
          <p:cNvSpPr/>
          <p:nvPr/>
        </p:nvSpPr>
        <p:spPr>
          <a:xfrm>
            <a:off x="228600" y="2935224"/>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Doctor Confirms / Overrides</a:t>
            </a:r>
            <a:endParaRPr lang="en-US" sz="1200" dirty="0"/>
          </a:p>
        </p:txBody>
      </p:sp>
      <p:sp>
        <p:nvSpPr>
          <p:cNvPr id="15" name="Text 13"/>
          <p:cNvSpPr/>
          <p:nvPr/>
        </p:nvSpPr>
        <p:spPr>
          <a:xfrm>
            <a:off x="1554480" y="3456432"/>
            <a:ext cx="548640" cy="164592"/>
          </a:xfrm>
          <a:prstGeom prst="rect">
            <a:avLst/>
          </a:prstGeom>
          <a:noFill/>
          <a:ln/>
        </p:spPr>
        <p:txBody>
          <a:bodyPr wrap="square" lIns="0" tIns="0" rIns="0" bIns="0" rtlCol="0" anchor="ctr"/>
          <a:lstStyle/>
          <a:p>
            <a:pPr marL="0" indent="0" algn="ctr">
              <a:buNone/>
            </a:pPr>
            <a:r>
              <a:rPr lang="en-US" sz="1100" dirty="0">
                <a:solidFill>
                  <a:srgbClr val="0D9488"/>
                </a:solidFill>
              </a:rPr>
              <a:t>▼</a:t>
            </a:r>
            <a:endParaRPr lang="en-US" sz="1100" dirty="0"/>
          </a:p>
        </p:txBody>
      </p:sp>
      <p:sp>
        <p:nvSpPr>
          <p:cNvPr id="16" name="Shape 14"/>
          <p:cNvSpPr/>
          <p:nvPr/>
        </p:nvSpPr>
        <p:spPr>
          <a:xfrm>
            <a:off x="201168" y="3602736"/>
            <a:ext cx="3291840" cy="548640"/>
          </a:xfrm>
          <a:prstGeom prst="roundRect">
            <a:avLst>
              <a:gd name="adj" fmla="val 15000"/>
            </a:avLst>
          </a:prstGeom>
          <a:solidFill>
            <a:srgbClr val="0D9488"/>
          </a:solidFill>
          <a:ln w="12700">
            <a:solidFill>
              <a:srgbClr val="FFFFFF"/>
            </a:solidFill>
            <a:prstDash val="solid"/>
          </a:ln>
          <a:effectLst>
            <a:outerShdw blurRad="101600" dist="38100" dir="2700000" algn="bl" rotWithShape="0">
              <a:srgbClr val="000000">
                <a:alpha val="18000"/>
              </a:srgbClr>
            </a:outerShdw>
          </a:effectLst>
        </p:spPr>
      </p:sp>
      <p:sp>
        <p:nvSpPr>
          <p:cNvPr id="17" name="Text 15"/>
          <p:cNvSpPr/>
          <p:nvPr/>
        </p:nvSpPr>
        <p:spPr>
          <a:xfrm>
            <a:off x="228600" y="3630168"/>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Added to Max-Heap Queue</a:t>
            </a:r>
            <a:endParaRPr lang="en-US" sz="1200" dirty="0"/>
          </a:p>
        </p:txBody>
      </p:sp>
      <p:sp>
        <p:nvSpPr>
          <p:cNvPr id="18" name="Text 16"/>
          <p:cNvSpPr/>
          <p:nvPr/>
        </p:nvSpPr>
        <p:spPr>
          <a:xfrm>
            <a:off x="1554480" y="4151376"/>
            <a:ext cx="548640" cy="164592"/>
          </a:xfrm>
          <a:prstGeom prst="rect">
            <a:avLst/>
          </a:prstGeom>
          <a:noFill/>
          <a:ln/>
        </p:spPr>
        <p:txBody>
          <a:bodyPr wrap="square" lIns="0" tIns="0" rIns="0" bIns="0" rtlCol="0" anchor="ctr"/>
          <a:lstStyle/>
          <a:p>
            <a:pPr marL="0" indent="0" algn="ctr">
              <a:buNone/>
            </a:pPr>
            <a:r>
              <a:rPr lang="en-US" sz="1100" dirty="0">
                <a:solidFill>
                  <a:srgbClr val="0D9488"/>
                </a:solidFill>
              </a:rPr>
              <a:t>▼</a:t>
            </a:r>
            <a:endParaRPr lang="en-US" sz="1100" dirty="0"/>
          </a:p>
        </p:txBody>
      </p:sp>
      <p:sp>
        <p:nvSpPr>
          <p:cNvPr id="19" name="Shape 17"/>
          <p:cNvSpPr/>
          <p:nvPr/>
        </p:nvSpPr>
        <p:spPr>
          <a:xfrm>
            <a:off x="201168" y="4297680"/>
            <a:ext cx="3291840" cy="548640"/>
          </a:xfrm>
          <a:prstGeom prst="roundRect">
            <a:avLst>
              <a:gd name="adj" fmla="val 15000"/>
            </a:avLst>
          </a:prstGeom>
          <a:solidFill>
            <a:srgbClr val="065F46"/>
          </a:solidFill>
          <a:ln w="12700">
            <a:solidFill>
              <a:srgbClr val="FFFFFF"/>
            </a:solidFill>
            <a:prstDash val="solid"/>
          </a:ln>
          <a:effectLst>
            <a:outerShdw blurRad="101600" dist="38100" dir="2700000" algn="bl" rotWithShape="0">
              <a:srgbClr val="000000">
                <a:alpha val="18000"/>
              </a:srgbClr>
            </a:outerShdw>
          </a:effectLst>
        </p:spPr>
      </p:sp>
      <p:sp>
        <p:nvSpPr>
          <p:cNvPr id="20" name="Text 18"/>
          <p:cNvSpPr/>
          <p:nvPr/>
        </p:nvSpPr>
        <p:spPr>
          <a:xfrm>
            <a:off x="228600" y="4325112"/>
            <a:ext cx="32461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Admit Next (Highest Priority)</a:t>
            </a:r>
            <a:endParaRPr lang="en-US" sz="1200" dirty="0"/>
          </a:p>
        </p:txBody>
      </p:sp>
      <p:sp>
        <p:nvSpPr>
          <p:cNvPr id="21" name="Text 19"/>
          <p:cNvSpPr/>
          <p:nvPr/>
        </p:nvSpPr>
        <p:spPr>
          <a:xfrm>
            <a:off x="3749040" y="777240"/>
            <a:ext cx="5120640" cy="438912"/>
          </a:xfrm>
          <a:prstGeom prst="rect">
            <a:avLst/>
          </a:prstGeom>
          <a:noFill/>
          <a:ln/>
        </p:spPr>
        <p:txBody>
          <a:bodyPr wrap="square" lIns="0" tIns="0" rIns="0" bIns="0" rtlCol="0" anchor="ctr"/>
          <a:lstStyle/>
          <a:p>
            <a:pPr marL="0" indent="0" algn="l">
              <a:buNone/>
            </a:pPr>
            <a:r>
              <a:rPr lang="en-US" sz="1700" b="1" dirty="0">
                <a:solidFill>
                  <a:srgbClr val="0B1F3A"/>
                </a:solidFill>
                <a:latin typeface="Cambria" pitchFamily="34" charset="0"/>
                <a:ea typeface="Cambria" pitchFamily="34" charset="-122"/>
                <a:cs typeface="Cambria" pitchFamily="34" charset="-120"/>
              </a:rPr>
              <a:t>Key System Features</a:t>
            </a:r>
            <a:endParaRPr lang="en-US" sz="1700" dirty="0"/>
          </a:p>
        </p:txBody>
      </p:sp>
      <p:sp>
        <p:nvSpPr>
          <p:cNvPr id="22" name="Shape 20"/>
          <p:cNvSpPr/>
          <p:nvPr/>
        </p:nvSpPr>
        <p:spPr>
          <a:xfrm>
            <a:off x="3749040" y="1298448"/>
            <a:ext cx="5120640" cy="676656"/>
          </a:xfrm>
          <a:prstGeom prst="roundRect">
            <a:avLst>
              <a:gd name="adj" fmla="val 10811"/>
            </a:avLst>
          </a:prstGeom>
          <a:solidFill>
            <a:srgbClr val="FFFFFF"/>
          </a:solidFill>
          <a:ln w="12700">
            <a:solidFill>
              <a:srgbClr val="CBD5E1"/>
            </a:solidFill>
            <a:prstDash val="solid"/>
          </a:ln>
          <a:effectLst>
            <a:outerShdw blurRad="63500" dist="25400" dir="2700000" algn="bl" rotWithShape="0">
              <a:srgbClr val="000000">
                <a:alpha val="10000"/>
              </a:srgbClr>
            </a:outerShdw>
          </a:effectLst>
        </p:spPr>
      </p:sp>
      <p:sp>
        <p:nvSpPr>
          <p:cNvPr id="23" name="Text 21"/>
          <p:cNvSpPr/>
          <p:nvPr/>
        </p:nvSpPr>
        <p:spPr>
          <a:xfrm>
            <a:off x="3858768" y="1344168"/>
            <a:ext cx="4937760" cy="246888"/>
          </a:xfrm>
          <a:prstGeom prst="rect">
            <a:avLst/>
          </a:prstGeom>
          <a:noFill/>
          <a:ln/>
        </p:spPr>
        <p:txBody>
          <a:bodyPr wrap="square" lIns="0" tIns="0" rIns="0" bIns="0" rtlCol="0" anchor="t"/>
          <a:lstStyle/>
          <a:p>
            <a:pPr marL="0" indent="0" algn="l">
              <a:buNone/>
            </a:pPr>
            <a:r>
              <a:rPr lang="en-US" sz="1200" b="1" dirty="0">
                <a:solidFill>
                  <a:srgbClr val="0B1F3A"/>
                </a:solidFill>
                <a:latin typeface="Calibri" pitchFamily="34" charset="0"/>
                <a:ea typeface="Calibri" pitchFamily="34" charset="-122"/>
                <a:cs typeface="Calibri" pitchFamily="34" charset="-120"/>
              </a:rPr>
              <a:t>🤖  AI-Powered Triage</a:t>
            </a:r>
            <a:endParaRPr lang="en-US" sz="1200" dirty="0"/>
          </a:p>
        </p:txBody>
      </p:sp>
      <p:sp>
        <p:nvSpPr>
          <p:cNvPr id="24" name="Text 22"/>
          <p:cNvSpPr/>
          <p:nvPr/>
        </p:nvSpPr>
        <p:spPr>
          <a:xfrm>
            <a:off x="3858768" y="1600200"/>
            <a:ext cx="4937760" cy="329184"/>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Gemini 2.5 Flash analyzes symptoms and recommends a priority level (1–5) with clinical reasoning, reducing triage time by ~60%.</a:t>
            </a:r>
            <a:endParaRPr lang="en-US" sz="1000" dirty="0"/>
          </a:p>
        </p:txBody>
      </p:sp>
      <p:sp>
        <p:nvSpPr>
          <p:cNvPr id="25" name="Shape 23"/>
          <p:cNvSpPr/>
          <p:nvPr/>
        </p:nvSpPr>
        <p:spPr>
          <a:xfrm>
            <a:off x="3749040" y="2048256"/>
            <a:ext cx="5120640" cy="676656"/>
          </a:xfrm>
          <a:prstGeom prst="roundRect">
            <a:avLst>
              <a:gd name="adj" fmla="val 10811"/>
            </a:avLst>
          </a:prstGeom>
          <a:solidFill>
            <a:srgbClr val="FFFFFF"/>
          </a:solidFill>
          <a:ln w="12700">
            <a:solidFill>
              <a:srgbClr val="CBD5E1"/>
            </a:solidFill>
            <a:prstDash val="solid"/>
          </a:ln>
          <a:effectLst>
            <a:outerShdw blurRad="63500" dist="25400" dir="2700000" algn="bl" rotWithShape="0">
              <a:srgbClr val="000000">
                <a:alpha val="10000"/>
              </a:srgbClr>
            </a:outerShdw>
          </a:effectLst>
        </p:spPr>
      </p:sp>
      <p:sp>
        <p:nvSpPr>
          <p:cNvPr id="26" name="Text 24"/>
          <p:cNvSpPr/>
          <p:nvPr/>
        </p:nvSpPr>
        <p:spPr>
          <a:xfrm>
            <a:off x="3858768" y="2093976"/>
            <a:ext cx="4937760" cy="246888"/>
          </a:xfrm>
          <a:prstGeom prst="rect">
            <a:avLst/>
          </a:prstGeom>
          <a:noFill/>
          <a:ln/>
        </p:spPr>
        <p:txBody>
          <a:bodyPr wrap="square" lIns="0" tIns="0" rIns="0" bIns="0" rtlCol="0" anchor="t"/>
          <a:lstStyle/>
          <a:p>
            <a:pPr marL="0" indent="0" algn="l">
              <a:buNone/>
            </a:pPr>
            <a:r>
              <a:rPr lang="en-US" sz="1200" b="1" dirty="0">
                <a:solidFill>
                  <a:srgbClr val="0B1F3A"/>
                </a:solidFill>
                <a:latin typeface="Calibri" pitchFamily="34" charset="0"/>
                <a:ea typeface="Calibri" pitchFamily="34" charset="-122"/>
                <a:cs typeface="Calibri" pitchFamily="34" charset="-120"/>
              </a:rPr>
              <a:t>⚡  Max-Heap Priority Queue</a:t>
            </a:r>
            <a:endParaRPr lang="en-US" sz="1200" dirty="0"/>
          </a:p>
        </p:txBody>
      </p:sp>
      <p:sp>
        <p:nvSpPr>
          <p:cNvPr id="27" name="Text 25"/>
          <p:cNvSpPr/>
          <p:nvPr/>
        </p:nvSpPr>
        <p:spPr>
          <a:xfrm>
            <a:off x="3858768" y="2350008"/>
            <a:ext cx="4937760" cy="329184"/>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Patients sorted by priority + arrival time. Insert/extract in O(log n), supporting 1000+ patient queues with sub-millisecond response.</a:t>
            </a:r>
            <a:endParaRPr lang="en-US" sz="1000" dirty="0"/>
          </a:p>
        </p:txBody>
      </p:sp>
      <p:sp>
        <p:nvSpPr>
          <p:cNvPr id="28" name="Shape 26"/>
          <p:cNvSpPr/>
          <p:nvPr/>
        </p:nvSpPr>
        <p:spPr>
          <a:xfrm>
            <a:off x="3749040" y="2798064"/>
            <a:ext cx="5120640" cy="676656"/>
          </a:xfrm>
          <a:prstGeom prst="roundRect">
            <a:avLst>
              <a:gd name="adj" fmla="val 10811"/>
            </a:avLst>
          </a:prstGeom>
          <a:solidFill>
            <a:srgbClr val="FFFFFF"/>
          </a:solidFill>
          <a:ln w="12700">
            <a:solidFill>
              <a:srgbClr val="CBD5E1"/>
            </a:solidFill>
            <a:prstDash val="solid"/>
          </a:ln>
          <a:effectLst>
            <a:outerShdw blurRad="63500" dist="25400" dir="2700000" algn="bl" rotWithShape="0">
              <a:srgbClr val="000000">
                <a:alpha val="10000"/>
              </a:srgbClr>
            </a:outerShdw>
          </a:effectLst>
        </p:spPr>
      </p:sp>
      <p:sp>
        <p:nvSpPr>
          <p:cNvPr id="29" name="Text 27"/>
          <p:cNvSpPr/>
          <p:nvPr/>
        </p:nvSpPr>
        <p:spPr>
          <a:xfrm>
            <a:off x="3858768" y="2843784"/>
            <a:ext cx="4937760" cy="246888"/>
          </a:xfrm>
          <a:prstGeom prst="rect">
            <a:avLst/>
          </a:prstGeom>
          <a:noFill/>
          <a:ln/>
        </p:spPr>
        <p:txBody>
          <a:bodyPr wrap="square" lIns="0" tIns="0" rIns="0" bIns="0" rtlCol="0" anchor="t"/>
          <a:lstStyle/>
          <a:p>
            <a:pPr marL="0" indent="0" algn="l">
              <a:buNone/>
            </a:pPr>
            <a:r>
              <a:rPr lang="en-US" sz="1200" b="1" dirty="0">
                <a:solidFill>
                  <a:srgbClr val="0B1F3A"/>
                </a:solidFill>
                <a:latin typeface="Calibri" pitchFamily="34" charset="0"/>
                <a:ea typeface="Calibri" pitchFamily="34" charset="-122"/>
                <a:cs typeface="Calibri" pitchFamily="34" charset="-120"/>
              </a:rPr>
              <a:t>🔄  Wait-Time Aging</a:t>
            </a:r>
            <a:endParaRPr lang="en-US" sz="1200" dirty="0"/>
          </a:p>
        </p:txBody>
      </p:sp>
      <p:sp>
        <p:nvSpPr>
          <p:cNvPr id="30" name="Text 28"/>
          <p:cNvSpPr/>
          <p:nvPr/>
        </p:nvSpPr>
        <p:spPr>
          <a:xfrm>
            <a:off x="3858768" y="3099816"/>
            <a:ext cx="4937760" cy="329184"/>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Long-waiting patients are automatically escalated to prevent starvation — no low-priority patient is ever ignored indefinitely.</a:t>
            </a:r>
            <a:endParaRPr lang="en-US" sz="1000" dirty="0"/>
          </a:p>
        </p:txBody>
      </p:sp>
      <p:sp>
        <p:nvSpPr>
          <p:cNvPr id="31" name="Shape 29"/>
          <p:cNvSpPr/>
          <p:nvPr/>
        </p:nvSpPr>
        <p:spPr>
          <a:xfrm>
            <a:off x="3749040" y="3547872"/>
            <a:ext cx="5120640" cy="676656"/>
          </a:xfrm>
          <a:prstGeom prst="roundRect">
            <a:avLst>
              <a:gd name="adj" fmla="val 10811"/>
            </a:avLst>
          </a:prstGeom>
          <a:solidFill>
            <a:srgbClr val="FFFFFF"/>
          </a:solidFill>
          <a:ln w="12700">
            <a:solidFill>
              <a:srgbClr val="CBD5E1"/>
            </a:solidFill>
            <a:prstDash val="solid"/>
          </a:ln>
          <a:effectLst>
            <a:outerShdw blurRad="63500" dist="25400" dir="2700000" algn="bl" rotWithShape="0">
              <a:srgbClr val="000000">
                <a:alpha val="10000"/>
              </a:srgbClr>
            </a:outerShdw>
          </a:effectLst>
        </p:spPr>
      </p:sp>
      <p:sp>
        <p:nvSpPr>
          <p:cNvPr id="32" name="Text 30"/>
          <p:cNvSpPr/>
          <p:nvPr/>
        </p:nvSpPr>
        <p:spPr>
          <a:xfrm>
            <a:off x="3858768" y="3593592"/>
            <a:ext cx="4937760" cy="246888"/>
          </a:xfrm>
          <a:prstGeom prst="rect">
            <a:avLst/>
          </a:prstGeom>
          <a:noFill/>
          <a:ln/>
        </p:spPr>
        <p:txBody>
          <a:bodyPr wrap="square" lIns="0" tIns="0" rIns="0" bIns="0" rtlCol="0" anchor="t"/>
          <a:lstStyle/>
          <a:p>
            <a:pPr marL="0" indent="0" algn="l">
              <a:buNone/>
            </a:pPr>
            <a:r>
              <a:rPr lang="en-US" sz="1200" b="1" dirty="0">
                <a:solidFill>
                  <a:srgbClr val="0B1F3A"/>
                </a:solidFill>
                <a:latin typeface="Calibri" pitchFamily="34" charset="0"/>
                <a:ea typeface="Calibri" pitchFamily="34" charset="-122"/>
                <a:cs typeface="Calibri" pitchFamily="34" charset="-120"/>
              </a:rPr>
              <a:t>💾  Dual-Write Persistence</a:t>
            </a:r>
            <a:endParaRPr lang="en-US" sz="1200" dirty="0"/>
          </a:p>
        </p:txBody>
      </p:sp>
      <p:sp>
        <p:nvSpPr>
          <p:cNvPr id="33" name="Text 31"/>
          <p:cNvSpPr/>
          <p:nvPr/>
        </p:nvSpPr>
        <p:spPr>
          <a:xfrm>
            <a:off x="3858768" y="3849624"/>
            <a:ext cx="4937760" cy="329184"/>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Every mutation writes to PostgreSQL first, then updates the heap. On restart, the heap rebuilds from DB in ~100ms — zero data loss.</a:t>
            </a:r>
            <a:endParaRPr lang="en-US" sz="1000" dirty="0"/>
          </a:p>
        </p:txBody>
      </p:sp>
      <p:sp>
        <p:nvSpPr>
          <p:cNvPr id="34" name="Shape 32"/>
          <p:cNvSpPr/>
          <p:nvPr/>
        </p:nvSpPr>
        <p:spPr>
          <a:xfrm>
            <a:off x="3749040" y="4297680"/>
            <a:ext cx="5120640" cy="676656"/>
          </a:xfrm>
          <a:prstGeom prst="roundRect">
            <a:avLst>
              <a:gd name="adj" fmla="val 10811"/>
            </a:avLst>
          </a:prstGeom>
          <a:solidFill>
            <a:srgbClr val="FFFFFF"/>
          </a:solidFill>
          <a:ln w="12700">
            <a:solidFill>
              <a:srgbClr val="CBD5E1"/>
            </a:solidFill>
            <a:prstDash val="solid"/>
          </a:ln>
          <a:effectLst>
            <a:outerShdw blurRad="63500" dist="25400" dir="2700000" algn="bl" rotWithShape="0">
              <a:srgbClr val="000000">
                <a:alpha val="10000"/>
              </a:srgbClr>
            </a:outerShdw>
          </a:effectLst>
        </p:spPr>
      </p:sp>
      <p:sp>
        <p:nvSpPr>
          <p:cNvPr id="35" name="Text 33"/>
          <p:cNvSpPr/>
          <p:nvPr/>
        </p:nvSpPr>
        <p:spPr>
          <a:xfrm>
            <a:off x="3858768" y="4343400"/>
            <a:ext cx="4937760" cy="246888"/>
          </a:xfrm>
          <a:prstGeom prst="rect">
            <a:avLst/>
          </a:prstGeom>
          <a:noFill/>
          <a:ln/>
        </p:spPr>
        <p:txBody>
          <a:bodyPr wrap="square" lIns="0" tIns="0" rIns="0" bIns="0" rtlCol="0" anchor="t"/>
          <a:lstStyle/>
          <a:p>
            <a:pPr marL="0" indent="0" algn="l">
              <a:buNone/>
            </a:pPr>
            <a:r>
              <a:rPr lang="en-US" sz="1200" b="1" dirty="0">
                <a:solidFill>
                  <a:srgbClr val="0B1F3A"/>
                </a:solidFill>
                <a:latin typeface="Calibri" pitchFamily="34" charset="0"/>
                <a:ea typeface="Calibri" pitchFamily="34" charset="-122"/>
                <a:cs typeface="Calibri" pitchFamily="34" charset="-120"/>
              </a:rPr>
              <a:t>📋  Full Audit Trail</a:t>
            </a:r>
            <a:endParaRPr lang="en-US" sz="1200" dirty="0"/>
          </a:p>
        </p:txBody>
      </p:sp>
      <p:sp>
        <p:nvSpPr>
          <p:cNvPr id="36" name="Text 34"/>
          <p:cNvSpPr/>
          <p:nvPr/>
        </p:nvSpPr>
        <p:spPr>
          <a:xfrm>
            <a:off x="3858768" y="4599432"/>
            <a:ext cx="4937760" cy="329184"/>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Every register, admit, update, and remove action is logged with timestamps and notes for compliance.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9488"/>
          </a:solidFill>
          <a:ln w="12700">
            <a:solidFill>
              <a:srgbClr val="0D9488"/>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marL="0" indent="0" algn="ctr">
              <a:buNone/>
            </a:pPr>
            <a:r>
              <a:rPr lang="en-US" sz="2000" b="1" kern="0" spc="200" dirty="0">
                <a:solidFill>
                  <a:srgbClr val="FFFFFF"/>
                </a:solidFill>
                <a:latin typeface="Cambria" pitchFamily="34" charset="0"/>
                <a:ea typeface="Cambria" pitchFamily="34" charset="-122"/>
                <a:cs typeface="Cambria" pitchFamily="34" charset="-120"/>
              </a:rPr>
              <a:t>REAL-TIME DASHBOARD — What Doctors See</a:t>
            </a:r>
            <a:endParaRPr lang="en-US" sz="2000" dirty="0"/>
          </a:p>
        </p:txBody>
      </p:sp>
      <p:pic>
        <p:nvPicPr>
          <p:cNvPr id="4" name="Image 0" descr="preencoded.png"/>
          <p:cNvPicPr>
            <a:picLocks noChangeAspect="1"/>
          </p:cNvPicPr>
          <p:nvPr/>
        </p:nvPicPr>
        <p:blipFill>
          <a:blip r:embed="rId3"/>
          <a:stretch>
            <a:fillRect/>
          </a:stretch>
        </p:blipFill>
        <p:spPr>
          <a:xfrm>
            <a:off x="228600" y="749808"/>
            <a:ext cx="6400800" cy="4005072"/>
          </a:xfrm>
          <a:prstGeom prst="rect">
            <a:avLst/>
          </a:prstGeom>
        </p:spPr>
      </p:pic>
      <p:sp>
        <p:nvSpPr>
          <p:cNvPr id="5" name="Shape 2"/>
          <p:cNvSpPr/>
          <p:nvPr/>
        </p:nvSpPr>
        <p:spPr>
          <a:xfrm>
            <a:off x="6812280" y="804672"/>
            <a:ext cx="2148840" cy="694944"/>
          </a:xfrm>
          <a:prstGeom prst="roundRect">
            <a:avLst>
              <a:gd name="adj" fmla="val 10526"/>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6" name="Text 3"/>
          <p:cNvSpPr/>
          <p:nvPr/>
        </p:nvSpPr>
        <p:spPr>
          <a:xfrm>
            <a:off x="6876288" y="822960"/>
            <a:ext cx="347472" cy="65836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4"/>
          <p:cNvSpPr/>
          <p:nvPr/>
        </p:nvSpPr>
        <p:spPr>
          <a:xfrm>
            <a:off x="7223760" y="822960"/>
            <a:ext cx="1664208" cy="65836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Live patient count &amp; priority stats at a glance</a:t>
            </a:r>
            <a:endParaRPr lang="en-US" sz="950" dirty="0"/>
          </a:p>
        </p:txBody>
      </p:sp>
      <p:sp>
        <p:nvSpPr>
          <p:cNvPr id="8" name="Shape 5"/>
          <p:cNvSpPr/>
          <p:nvPr/>
        </p:nvSpPr>
        <p:spPr>
          <a:xfrm>
            <a:off x="6812280" y="1609344"/>
            <a:ext cx="2148840" cy="694944"/>
          </a:xfrm>
          <a:prstGeom prst="roundRect">
            <a:avLst>
              <a:gd name="adj" fmla="val 10526"/>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9" name="Text 6"/>
          <p:cNvSpPr/>
          <p:nvPr/>
        </p:nvSpPr>
        <p:spPr>
          <a:xfrm>
            <a:off x="6876288" y="1627632"/>
            <a:ext cx="347472" cy="65836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7"/>
          <p:cNvSpPr/>
          <p:nvPr/>
        </p:nvSpPr>
        <p:spPr>
          <a:xfrm>
            <a:off x="7223760" y="1627632"/>
            <a:ext cx="1664208" cy="65836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Color-coded priority badges (Red = Critical)</a:t>
            </a:r>
            <a:endParaRPr lang="en-US" sz="950" dirty="0"/>
          </a:p>
        </p:txBody>
      </p:sp>
      <p:sp>
        <p:nvSpPr>
          <p:cNvPr id="11" name="Shape 8"/>
          <p:cNvSpPr/>
          <p:nvPr/>
        </p:nvSpPr>
        <p:spPr>
          <a:xfrm>
            <a:off x="6812280" y="2414016"/>
            <a:ext cx="2148840" cy="694944"/>
          </a:xfrm>
          <a:prstGeom prst="roundRect">
            <a:avLst>
              <a:gd name="adj" fmla="val 10526"/>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12" name="Text 9"/>
          <p:cNvSpPr/>
          <p:nvPr/>
        </p:nvSpPr>
        <p:spPr>
          <a:xfrm>
            <a:off x="6876288" y="2432304"/>
            <a:ext cx="347472" cy="65836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0"/>
          <p:cNvSpPr/>
          <p:nvPr/>
        </p:nvSpPr>
        <p:spPr>
          <a:xfrm>
            <a:off x="7223760" y="2432304"/>
            <a:ext cx="1664208" cy="65836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AI suggestion panel with Accept / Override</a:t>
            </a:r>
            <a:endParaRPr lang="en-US" sz="950" dirty="0"/>
          </a:p>
        </p:txBody>
      </p:sp>
      <p:sp>
        <p:nvSpPr>
          <p:cNvPr id="14" name="Shape 11"/>
          <p:cNvSpPr/>
          <p:nvPr/>
        </p:nvSpPr>
        <p:spPr>
          <a:xfrm>
            <a:off x="6812280" y="3218688"/>
            <a:ext cx="2148840" cy="694944"/>
          </a:xfrm>
          <a:prstGeom prst="roundRect">
            <a:avLst>
              <a:gd name="adj" fmla="val 10526"/>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15" name="Text 12"/>
          <p:cNvSpPr/>
          <p:nvPr/>
        </p:nvSpPr>
        <p:spPr>
          <a:xfrm>
            <a:off x="6876288" y="3236976"/>
            <a:ext cx="347472" cy="65836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6" name="Text 13"/>
          <p:cNvSpPr/>
          <p:nvPr/>
        </p:nvSpPr>
        <p:spPr>
          <a:xfrm>
            <a:off x="7223760" y="3236976"/>
            <a:ext cx="1664208" cy="65836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One-click Admit Next Patient button</a:t>
            </a:r>
            <a:endParaRPr lang="en-US" sz="950" dirty="0"/>
          </a:p>
        </p:txBody>
      </p:sp>
      <p:sp>
        <p:nvSpPr>
          <p:cNvPr id="17" name="Shape 14"/>
          <p:cNvSpPr/>
          <p:nvPr/>
        </p:nvSpPr>
        <p:spPr>
          <a:xfrm>
            <a:off x="6812280" y="4023360"/>
            <a:ext cx="2148840" cy="694944"/>
          </a:xfrm>
          <a:prstGeom prst="roundRect">
            <a:avLst>
              <a:gd name="adj" fmla="val 10526"/>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18" name="Text 15"/>
          <p:cNvSpPr/>
          <p:nvPr/>
        </p:nvSpPr>
        <p:spPr>
          <a:xfrm>
            <a:off x="6876288" y="4041648"/>
            <a:ext cx="347472" cy="65836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6"/>
          <p:cNvSpPr/>
          <p:nvPr/>
        </p:nvSpPr>
        <p:spPr>
          <a:xfrm>
            <a:off x="7223760" y="4041648"/>
            <a:ext cx="1664208" cy="65836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Priority distribution bar chart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2305C"/>
          </a:solidFill>
          <a:ln w="12700">
            <a:solidFill>
              <a:srgbClr val="12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100" b="1" kern="0" spc="300" dirty="0">
                <a:solidFill>
                  <a:srgbClr val="FFFFFF"/>
                </a:solidFill>
                <a:latin typeface="Cambria" pitchFamily="34" charset="0"/>
                <a:ea typeface="Cambria" pitchFamily="34" charset="-122"/>
                <a:cs typeface="Cambria" pitchFamily="34" charset="-120"/>
              </a:rPr>
              <a:t>METHODOLOGY  &amp;  APPROACH</a:t>
            </a:r>
            <a:endParaRPr lang="en-US" sz="2100" dirty="0"/>
          </a:p>
        </p:txBody>
      </p:sp>
      <p:sp>
        <p:nvSpPr>
          <p:cNvPr id="4" name="Text 2"/>
          <p:cNvSpPr/>
          <p:nvPr/>
        </p:nvSpPr>
        <p:spPr>
          <a:xfrm>
            <a:off x="365760" y="777240"/>
            <a:ext cx="8412480" cy="365760"/>
          </a:xfrm>
          <a:prstGeom prst="rect">
            <a:avLst/>
          </a:prstGeom>
          <a:noFill/>
          <a:ln/>
        </p:spPr>
        <p:txBody>
          <a:bodyPr wrap="square" lIns="0" tIns="0" rIns="0" bIns="0" rtlCol="0" anchor="ctr"/>
          <a:lstStyle/>
          <a:p>
            <a:pPr marL="0" indent="0" algn="l">
              <a:buNone/>
            </a:pPr>
            <a:r>
              <a:rPr lang="en-US" sz="1400" b="1" dirty="0">
                <a:solidFill>
                  <a:srgbClr val="0D9488"/>
                </a:solidFill>
                <a:latin typeface="Cambria" pitchFamily="34" charset="0"/>
                <a:ea typeface="Cambria" pitchFamily="34" charset="-122"/>
                <a:cs typeface="Cambria" pitchFamily="34" charset="-120"/>
              </a:rPr>
              <a:t>How Did We Build This? — In Simple Steps</a:t>
            </a:r>
            <a:endParaRPr lang="en-US" sz="1400" dirty="0"/>
          </a:p>
        </p:txBody>
      </p:sp>
      <p:sp>
        <p:nvSpPr>
          <p:cNvPr id="5" name="Shape 3"/>
          <p:cNvSpPr/>
          <p:nvPr/>
        </p:nvSpPr>
        <p:spPr>
          <a:xfrm>
            <a:off x="228600" y="1234440"/>
            <a:ext cx="2788920" cy="3657600"/>
          </a:xfrm>
          <a:prstGeom prst="roundRect">
            <a:avLst>
              <a:gd name="adj" fmla="val 3279"/>
            </a:avLst>
          </a:prstGeom>
          <a:solidFill>
            <a:srgbClr val="FFFFFF"/>
          </a:solidFill>
          <a:ln w="12700">
            <a:solidFill>
              <a:srgbClr val="CBD5E1"/>
            </a:solidFill>
            <a:prstDash val="solid"/>
          </a:ln>
          <a:effectLst>
            <a:outerShdw blurRad="76200" dist="25400" dir="2700000" algn="bl" rotWithShape="0">
              <a:srgbClr val="000000">
                <a:alpha val="12000"/>
              </a:srgbClr>
            </a:outerShdw>
          </a:effectLst>
        </p:spPr>
      </p:sp>
      <p:sp>
        <p:nvSpPr>
          <p:cNvPr id="6" name="Shape 4"/>
          <p:cNvSpPr/>
          <p:nvPr/>
        </p:nvSpPr>
        <p:spPr>
          <a:xfrm>
            <a:off x="228600" y="1234440"/>
            <a:ext cx="2788920" cy="566928"/>
          </a:xfrm>
          <a:prstGeom prst="roundRect">
            <a:avLst>
              <a:gd name="adj" fmla="val 16129"/>
            </a:avLst>
          </a:prstGeom>
          <a:solidFill>
            <a:srgbClr val="0B1F3A"/>
          </a:solidFill>
          <a:ln w="12700">
            <a:solidFill>
              <a:srgbClr val="0B1F3A"/>
            </a:solidFill>
            <a:prstDash val="solid"/>
          </a:ln>
        </p:spPr>
      </p:sp>
      <p:sp>
        <p:nvSpPr>
          <p:cNvPr id="7" name="Shape 5"/>
          <p:cNvSpPr/>
          <p:nvPr/>
        </p:nvSpPr>
        <p:spPr>
          <a:xfrm>
            <a:off x="228600" y="1572768"/>
            <a:ext cx="2788920" cy="228600"/>
          </a:xfrm>
          <a:prstGeom prst="rect">
            <a:avLst/>
          </a:prstGeom>
          <a:solidFill>
            <a:srgbClr val="0B1F3A"/>
          </a:solidFill>
          <a:ln w="12700">
            <a:solidFill>
              <a:srgbClr val="0B1F3A"/>
            </a:solidFill>
            <a:prstDash val="solid"/>
          </a:ln>
        </p:spPr>
      </p:sp>
      <p:sp>
        <p:nvSpPr>
          <p:cNvPr id="8" name="Text 6"/>
          <p:cNvSpPr/>
          <p:nvPr/>
        </p:nvSpPr>
        <p:spPr>
          <a:xfrm>
            <a:off x="301752" y="1261872"/>
            <a:ext cx="2633472" cy="502920"/>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itchFamily="34" charset="0"/>
                <a:ea typeface="Cambria" pitchFamily="34" charset="-122"/>
                <a:cs typeface="Cambria" pitchFamily="34" charset="-120"/>
              </a:rPr>
              <a:t>Step 1 — Understand the Problem</a:t>
            </a:r>
            <a:endParaRPr lang="en-US" sz="1100" dirty="0"/>
          </a:p>
        </p:txBody>
      </p:sp>
      <p:sp>
        <p:nvSpPr>
          <p:cNvPr id="9" name="Shape 7"/>
          <p:cNvSpPr/>
          <p:nvPr/>
        </p:nvSpPr>
        <p:spPr>
          <a:xfrm>
            <a:off x="338328" y="1920240"/>
            <a:ext cx="164592" cy="164592"/>
          </a:xfrm>
          <a:prstGeom prst="ellipse">
            <a:avLst/>
          </a:prstGeom>
          <a:solidFill>
            <a:srgbClr val="0B1F3A"/>
          </a:solidFill>
          <a:ln w="12700">
            <a:solidFill>
              <a:srgbClr val="0B1F3A"/>
            </a:solidFill>
            <a:prstDash val="solid"/>
          </a:ln>
        </p:spPr>
      </p:sp>
      <p:sp>
        <p:nvSpPr>
          <p:cNvPr id="10" name="Text 8"/>
          <p:cNvSpPr/>
          <p:nvPr/>
        </p:nvSpPr>
        <p:spPr>
          <a:xfrm>
            <a:off x="576072" y="19019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studied how emergency rooms work and what makes triage difficult.</a:t>
            </a:r>
            <a:endParaRPr lang="en-US" sz="1050" dirty="0"/>
          </a:p>
        </p:txBody>
      </p:sp>
      <p:sp>
        <p:nvSpPr>
          <p:cNvPr id="11" name="Shape 9"/>
          <p:cNvSpPr/>
          <p:nvPr/>
        </p:nvSpPr>
        <p:spPr>
          <a:xfrm>
            <a:off x="338328" y="2834640"/>
            <a:ext cx="164592" cy="164592"/>
          </a:xfrm>
          <a:prstGeom prst="ellipse">
            <a:avLst/>
          </a:prstGeom>
          <a:solidFill>
            <a:srgbClr val="0B1F3A"/>
          </a:solidFill>
          <a:ln w="12700">
            <a:solidFill>
              <a:srgbClr val="0B1F3A"/>
            </a:solidFill>
            <a:prstDash val="solid"/>
          </a:ln>
        </p:spPr>
      </p:sp>
      <p:sp>
        <p:nvSpPr>
          <p:cNvPr id="12" name="Text 10"/>
          <p:cNvSpPr/>
          <p:nvPr/>
        </p:nvSpPr>
        <p:spPr>
          <a:xfrm>
            <a:off x="576072" y="28163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found that the biggest issue is: sicker patients don't always get seen first.</a:t>
            </a:r>
            <a:endParaRPr lang="en-US" sz="1050" dirty="0"/>
          </a:p>
        </p:txBody>
      </p:sp>
      <p:sp>
        <p:nvSpPr>
          <p:cNvPr id="13" name="Shape 11"/>
          <p:cNvSpPr/>
          <p:nvPr/>
        </p:nvSpPr>
        <p:spPr>
          <a:xfrm>
            <a:off x="338328" y="3749040"/>
            <a:ext cx="164592" cy="164592"/>
          </a:xfrm>
          <a:prstGeom prst="ellipse">
            <a:avLst/>
          </a:prstGeom>
          <a:solidFill>
            <a:srgbClr val="0B1F3A"/>
          </a:solidFill>
          <a:ln w="12700">
            <a:solidFill>
              <a:srgbClr val="0B1F3A"/>
            </a:solidFill>
            <a:prstDash val="solid"/>
          </a:ln>
        </p:spPr>
      </p:sp>
      <p:sp>
        <p:nvSpPr>
          <p:cNvPr id="14" name="Text 12"/>
          <p:cNvSpPr/>
          <p:nvPr/>
        </p:nvSpPr>
        <p:spPr>
          <a:xfrm>
            <a:off x="576072" y="37307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decided to build a system where priority — not arrival order — decides who goes next.</a:t>
            </a:r>
            <a:endParaRPr lang="en-US" sz="1050" dirty="0"/>
          </a:p>
        </p:txBody>
      </p:sp>
      <p:sp>
        <p:nvSpPr>
          <p:cNvPr id="15" name="Shape 13"/>
          <p:cNvSpPr/>
          <p:nvPr/>
        </p:nvSpPr>
        <p:spPr>
          <a:xfrm>
            <a:off x="3172968" y="1234440"/>
            <a:ext cx="2788920" cy="3657600"/>
          </a:xfrm>
          <a:prstGeom prst="roundRect">
            <a:avLst>
              <a:gd name="adj" fmla="val 3279"/>
            </a:avLst>
          </a:prstGeom>
          <a:solidFill>
            <a:srgbClr val="FFFFFF"/>
          </a:solidFill>
          <a:ln w="12700">
            <a:solidFill>
              <a:srgbClr val="CBD5E1"/>
            </a:solidFill>
            <a:prstDash val="solid"/>
          </a:ln>
          <a:effectLst>
            <a:outerShdw blurRad="76200" dist="25400" dir="2700000" algn="bl" rotWithShape="0">
              <a:srgbClr val="000000">
                <a:alpha val="12000"/>
              </a:srgbClr>
            </a:outerShdw>
          </a:effectLst>
        </p:spPr>
      </p:sp>
      <p:sp>
        <p:nvSpPr>
          <p:cNvPr id="16" name="Shape 14"/>
          <p:cNvSpPr/>
          <p:nvPr/>
        </p:nvSpPr>
        <p:spPr>
          <a:xfrm>
            <a:off x="3172968" y="1234440"/>
            <a:ext cx="2788920" cy="566928"/>
          </a:xfrm>
          <a:prstGeom prst="roundRect">
            <a:avLst>
              <a:gd name="adj" fmla="val 16129"/>
            </a:avLst>
          </a:prstGeom>
          <a:solidFill>
            <a:srgbClr val="0D9488"/>
          </a:solidFill>
          <a:ln w="12700">
            <a:solidFill>
              <a:srgbClr val="0D9488"/>
            </a:solidFill>
            <a:prstDash val="solid"/>
          </a:ln>
        </p:spPr>
      </p:sp>
      <p:sp>
        <p:nvSpPr>
          <p:cNvPr id="17" name="Shape 15"/>
          <p:cNvSpPr/>
          <p:nvPr/>
        </p:nvSpPr>
        <p:spPr>
          <a:xfrm>
            <a:off x="3172968" y="1572768"/>
            <a:ext cx="2788920" cy="228600"/>
          </a:xfrm>
          <a:prstGeom prst="rect">
            <a:avLst/>
          </a:prstGeom>
          <a:solidFill>
            <a:srgbClr val="0D9488"/>
          </a:solidFill>
          <a:ln w="12700">
            <a:solidFill>
              <a:srgbClr val="0D9488"/>
            </a:solidFill>
            <a:prstDash val="solid"/>
          </a:ln>
        </p:spPr>
      </p:sp>
      <p:sp>
        <p:nvSpPr>
          <p:cNvPr id="18" name="Text 16"/>
          <p:cNvSpPr/>
          <p:nvPr/>
        </p:nvSpPr>
        <p:spPr>
          <a:xfrm>
            <a:off x="3246120" y="1261872"/>
            <a:ext cx="2633472" cy="502920"/>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itchFamily="34" charset="0"/>
                <a:ea typeface="Cambria" pitchFamily="34" charset="-122"/>
                <a:cs typeface="Cambria" pitchFamily="34" charset="-120"/>
              </a:rPr>
              <a:t>Step 2 — Design the System</a:t>
            </a:r>
            <a:endParaRPr lang="en-US" sz="1100" dirty="0"/>
          </a:p>
        </p:txBody>
      </p:sp>
      <p:sp>
        <p:nvSpPr>
          <p:cNvPr id="19" name="Shape 17"/>
          <p:cNvSpPr/>
          <p:nvPr/>
        </p:nvSpPr>
        <p:spPr>
          <a:xfrm>
            <a:off x="3282696" y="1920240"/>
            <a:ext cx="164592" cy="164592"/>
          </a:xfrm>
          <a:prstGeom prst="ellipse">
            <a:avLst/>
          </a:prstGeom>
          <a:solidFill>
            <a:srgbClr val="0D9488"/>
          </a:solidFill>
          <a:ln w="12700">
            <a:solidFill>
              <a:srgbClr val="0D9488"/>
            </a:solidFill>
            <a:prstDash val="solid"/>
          </a:ln>
        </p:spPr>
      </p:sp>
      <p:sp>
        <p:nvSpPr>
          <p:cNvPr id="20" name="Text 18"/>
          <p:cNvSpPr/>
          <p:nvPr/>
        </p:nvSpPr>
        <p:spPr>
          <a:xfrm>
            <a:off x="3520440" y="19019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chose a Max-Heap data structure because it automatically keeps the most critical patient at the top.</a:t>
            </a:r>
            <a:endParaRPr lang="en-US" sz="1050" dirty="0"/>
          </a:p>
        </p:txBody>
      </p:sp>
      <p:sp>
        <p:nvSpPr>
          <p:cNvPr id="21" name="Shape 19"/>
          <p:cNvSpPr/>
          <p:nvPr/>
        </p:nvSpPr>
        <p:spPr>
          <a:xfrm>
            <a:off x="3282696" y="2834640"/>
            <a:ext cx="164592" cy="164592"/>
          </a:xfrm>
          <a:prstGeom prst="ellipse">
            <a:avLst/>
          </a:prstGeom>
          <a:solidFill>
            <a:srgbClr val="0D9488"/>
          </a:solidFill>
          <a:ln w="12700">
            <a:solidFill>
              <a:srgbClr val="0D9488"/>
            </a:solidFill>
            <a:prstDash val="solid"/>
          </a:ln>
        </p:spPr>
      </p:sp>
      <p:sp>
        <p:nvSpPr>
          <p:cNvPr id="22" name="Text 20"/>
          <p:cNvSpPr/>
          <p:nvPr/>
        </p:nvSpPr>
        <p:spPr>
          <a:xfrm>
            <a:off x="3520440" y="28163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used PostgreSQL so all data is saved permanently and never lost if the server restarts.</a:t>
            </a:r>
            <a:endParaRPr lang="en-US" sz="1050" dirty="0"/>
          </a:p>
        </p:txBody>
      </p:sp>
      <p:sp>
        <p:nvSpPr>
          <p:cNvPr id="23" name="Shape 21"/>
          <p:cNvSpPr/>
          <p:nvPr/>
        </p:nvSpPr>
        <p:spPr>
          <a:xfrm>
            <a:off x="3282696" y="3749040"/>
            <a:ext cx="164592" cy="164592"/>
          </a:xfrm>
          <a:prstGeom prst="ellipse">
            <a:avLst/>
          </a:prstGeom>
          <a:solidFill>
            <a:srgbClr val="0D9488"/>
          </a:solidFill>
          <a:ln w="12700">
            <a:solidFill>
              <a:srgbClr val="0D9488"/>
            </a:solidFill>
            <a:prstDash val="solid"/>
          </a:ln>
        </p:spPr>
      </p:sp>
      <p:sp>
        <p:nvSpPr>
          <p:cNvPr id="24" name="Text 22"/>
          <p:cNvSpPr/>
          <p:nvPr/>
        </p:nvSpPr>
        <p:spPr>
          <a:xfrm>
            <a:off x="3520440" y="37307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connected Google Gemini AI to read symptoms and suggest the right priority level.</a:t>
            </a:r>
            <a:endParaRPr lang="en-US" sz="1050" dirty="0"/>
          </a:p>
        </p:txBody>
      </p:sp>
      <p:sp>
        <p:nvSpPr>
          <p:cNvPr id="25" name="Shape 23"/>
          <p:cNvSpPr/>
          <p:nvPr/>
        </p:nvSpPr>
        <p:spPr>
          <a:xfrm>
            <a:off x="6117336" y="1234440"/>
            <a:ext cx="2788920" cy="3657600"/>
          </a:xfrm>
          <a:prstGeom prst="roundRect">
            <a:avLst>
              <a:gd name="adj" fmla="val 3279"/>
            </a:avLst>
          </a:prstGeom>
          <a:solidFill>
            <a:srgbClr val="FFFFFF"/>
          </a:solidFill>
          <a:ln w="12700">
            <a:solidFill>
              <a:srgbClr val="CBD5E1"/>
            </a:solidFill>
            <a:prstDash val="solid"/>
          </a:ln>
          <a:effectLst>
            <a:outerShdw blurRad="76200" dist="25400" dir="2700000" algn="bl" rotWithShape="0">
              <a:srgbClr val="000000">
                <a:alpha val="12000"/>
              </a:srgbClr>
            </a:outerShdw>
          </a:effectLst>
        </p:spPr>
      </p:sp>
      <p:sp>
        <p:nvSpPr>
          <p:cNvPr id="26" name="Shape 24"/>
          <p:cNvSpPr/>
          <p:nvPr/>
        </p:nvSpPr>
        <p:spPr>
          <a:xfrm>
            <a:off x="6117336" y="1234440"/>
            <a:ext cx="2788920" cy="566928"/>
          </a:xfrm>
          <a:prstGeom prst="roundRect">
            <a:avLst>
              <a:gd name="adj" fmla="val 16129"/>
            </a:avLst>
          </a:prstGeom>
          <a:solidFill>
            <a:srgbClr val="7C3AED"/>
          </a:solidFill>
          <a:ln w="12700">
            <a:solidFill>
              <a:srgbClr val="7C3AED"/>
            </a:solidFill>
            <a:prstDash val="solid"/>
          </a:ln>
        </p:spPr>
      </p:sp>
      <p:sp>
        <p:nvSpPr>
          <p:cNvPr id="27" name="Shape 25"/>
          <p:cNvSpPr/>
          <p:nvPr/>
        </p:nvSpPr>
        <p:spPr>
          <a:xfrm>
            <a:off x="6117336" y="1572768"/>
            <a:ext cx="2788920" cy="228600"/>
          </a:xfrm>
          <a:prstGeom prst="rect">
            <a:avLst/>
          </a:prstGeom>
          <a:solidFill>
            <a:srgbClr val="7C3AED"/>
          </a:solidFill>
          <a:ln w="12700">
            <a:solidFill>
              <a:srgbClr val="7C3AED"/>
            </a:solidFill>
            <a:prstDash val="solid"/>
          </a:ln>
        </p:spPr>
      </p:sp>
      <p:sp>
        <p:nvSpPr>
          <p:cNvPr id="28" name="Text 26"/>
          <p:cNvSpPr/>
          <p:nvPr/>
        </p:nvSpPr>
        <p:spPr>
          <a:xfrm>
            <a:off x="6190488" y="1261872"/>
            <a:ext cx="2633472" cy="502920"/>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itchFamily="34" charset="0"/>
                <a:ea typeface="Cambria" pitchFamily="34" charset="-122"/>
                <a:cs typeface="Cambria" pitchFamily="34" charset="-120"/>
              </a:rPr>
              <a:t>Step 3 — Build &amp; Test</a:t>
            </a:r>
            <a:endParaRPr lang="en-US" sz="1100" dirty="0"/>
          </a:p>
        </p:txBody>
      </p:sp>
      <p:sp>
        <p:nvSpPr>
          <p:cNvPr id="29" name="Shape 27"/>
          <p:cNvSpPr/>
          <p:nvPr/>
        </p:nvSpPr>
        <p:spPr>
          <a:xfrm>
            <a:off x="6227064" y="1920240"/>
            <a:ext cx="164592" cy="164592"/>
          </a:xfrm>
          <a:prstGeom prst="ellipse">
            <a:avLst/>
          </a:prstGeom>
          <a:solidFill>
            <a:srgbClr val="7C3AED"/>
          </a:solidFill>
          <a:ln w="12700">
            <a:solidFill>
              <a:srgbClr val="7C3AED"/>
            </a:solidFill>
            <a:prstDash val="solid"/>
          </a:ln>
        </p:spPr>
      </p:sp>
      <p:sp>
        <p:nvSpPr>
          <p:cNvPr id="30" name="Text 28"/>
          <p:cNvSpPr/>
          <p:nvPr/>
        </p:nvSpPr>
        <p:spPr>
          <a:xfrm>
            <a:off x="6464808" y="19019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built the backend API using Python Flask with 10 endpoints for all actions.</a:t>
            </a:r>
            <a:endParaRPr lang="en-US" sz="1050" dirty="0"/>
          </a:p>
        </p:txBody>
      </p:sp>
      <p:sp>
        <p:nvSpPr>
          <p:cNvPr id="31" name="Shape 29"/>
          <p:cNvSpPr/>
          <p:nvPr/>
        </p:nvSpPr>
        <p:spPr>
          <a:xfrm>
            <a:off x="6227064" y="2834640"/>
            <a:ext cx="164592" cy="164592"/>
          </a:xfrm>
          <a:prstGeom prst="ellipse">
            <a:avLst/>
          </a:prstGeom>
          <a:solidFill>
            <a:srgbClr val="7C3AED"/>
          </a:solidFill>
          <a:ln w="12700">
            <a:solidFill>
              <a:srgbClr val="7C3AED"/>
            </a:solidFill>
            <a:prstDash val="solid"/>
          </a:ln>
        </p:spPr>
      </p:sp>
      <p:sp>
        <p:nvSpPr>
          <p:cNvPr id="32" name="Text 30"/>
          <p:cNvSpPr/>
          <p:nvPr/>
        </p:nvSpPr>
        <p:spPr>
          <a:xfrm>
            <a:off x="6464808" y="28163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created a dark clinical dashboard UI that shows the live queue to doctors.</a:t>
            </a:r>
            <a:endParaRPr lang="en-US" sz="1050" dirty="0"/>
          </a:p>
        </p:txBody>
      </p:sp>
      <p:sp>
        <p:nvSpPr>
          <p:cNvPr id="33" name="Shape 31"/>
          <p:cNvSpPr/>
          <p:nvPr/>
        </p:nvSpPr>
        <p:spPr>
          <a:xfrm>
            <a:off x="6227064" y="3749040"/>
            <a:ext cx="164592" cy="164592"/>
          </a:xfrm>
          <a:prstGeom prst="ellipse">
            <a:avLst/>
          </a:prstGeom>
          <a:solidFill>
            <a:srgbClr val="7C3AED"/>
          </a:solidFill>
          <a:ln w="12700">
            <a:solidFill>
              <a:srgbClr val="7C3AED"/>
            </a:solidFill>
            <a:prstDash val="solid"/>
          </a:ln>
        </p:spPr>
      </p:sp>
      <p:sp>
        <p:nvSpPr>
          <p:cNvPr id="34" name="Text 32"/>
          <p:cNvSpPr/>
          <p:nvPr/>
        </p:nvSpPr>
        <p:spPr>
          <a:xfrm>
            <a:off x="6464808" y="3730752"/>
            <a:ext cx="2359152" cy="804672"/>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We wrote 45 automated tests to make sure every feature works correctly every time.</a:t>
            </a:r>
            <a:endParaRPr lang="en-US" sz="1050" dirty="0"/>
          </a:p>
        </p:txBody>
      </p:sp>
      <p:sp>
        <p:nvSpPr>
          <p:cNvPr id="35" name="Shape 33"/>
          <p:cNvSpPr/>
          <p:nvPr/>
        </p:nvSpPr>
        <p:spPr>
          <a:xfrm>
            <a:off x="228600" y="4681728"/>
            <a:ext cx="8686800" cy="347472"/>
          </a:xfrm>
          <a:prstGeom prst="roundRect">
            <a:avLst>
              <a:gd name="adj" fmla="val 18421"/>
            </a:avLst>
          </a:prstGeom>
          <a:solidFill>
            <a:srgbClr val="CCFBF1"/>
          </a:solidFill>
          <a:ln w="12700">
            <a:solidFill>
              <a:srgbClr val="0D9488"/>
            </a:solidFill>
            <a:prstDash val="solid"/>
          </a:ln>
        </p:spPr>
      </p:sp>
      <p:sp>
        <p:nvSpPr>
          <p:cNvPr id="36" name="Text 34"/>
          <p:cNvSpPr/>
          <p:nvPr/>
        </p:nvSpPr>
        <p:spPr>
          <a:xfrm>
            <a:off x="365760" y="4700016"/>
            <a:ext cx="8412480" cy="310896"/>
          </a:xfrm>
          <a:prstGeom prst="rect">
            <a:avLst/>
          </a:prstGeom>
          <a:noFill/>
          <a:ln/>
        </p:spPr>
        <p:txBody>
          <a:bodyPr wrap="square" lIns="0" tIns="0" rIns="0" bIns="0" rtlCol="0" anchor="ctr"/>
          <a:lstStyle/>
          <a:p>
            <a:pPr marL="0" indent="0" algn="ctr">
              <a:buNone/>
            </a:pPr>
            <a:r>
              <a:rPr lang="en-US" sz="1050" i="1" dirty="0">
                <a:solidFill>
                  <a:srgbClr val="0A4A42"/>
                </a:solidFill>
                <a:latin typeface="Calibri" pitchFamily="34" charset="0"/>
                <a:ea typeface="Calibri" pitchFamily="34" charset="-122"/>
                <a:cs typeface="Calibri" pitchFamily="34" charset="-120"/>
              </a:rPr>
              <a:t>Key Design Decision: Doctor always has the final say — AI is a helper, not a replacement. The doctor can accept or override any AI suggestion.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lgn="ctr">
              <a:buNone/>
            </a:pPr>
            <a:r>
              <a:rPr lang="en-US" sz="2100" b="1" kern="0" spc="300" dirty="0">
                <a:solidFill>
                  <a:srgbClr val="FFFFFF"/>
                </a:solidFill>
                <a:latin typeface="Cambria" pitchFamily="34" charset="0"/>
                <a:ea typeface="Cambria" pitchFamily="34" charset="-122"/>
                <a:cs typeface="Cambria" pitchFamily="34" charset="-120"/>
              </a:rPr>
              <a:t>RESULTS  &amp;  OUTCOMES</a:t>
            </a:r>
            <a:endParaRPr lang="en-US" sz="2100" dirty="0"/>
          </a:p>
        </p:txBody>
      </p:sp>
      <p:sp>
        <p:nvSpPr>
          <p:cNvPr id="4" name="Shape 2"/>
          <p:cNvSpPr/>
          <p:nvPr/>
        </p:nvSpPr>
        <p:spPr>
          <a:xfrm>
            <a:off x="182880" y="804672"/>
            <a:ext cx="2084832" cy="1170432"/>
          </a:xfrm>
          <a:prstGeom prst="roundRect">
            <a:avLst>
              <a:gd name="adj" fmla="val 7813"/>
            </a:avLst>
          </a:prstGeom>
          <a:solidFill>
            <a:srgbClr val="0D9488"/>
          </a:solidFill>
          <a:ln w="12700">
            <a:solidFill>
              <a:srgbClr val="FFFFFF"/>
            </a:solidFill>
            <a:prstDash val="solid"/>
          </a:ln>
          <a:effectLst>
            <a:outerShdw blurRad="101600" dist="38100" dir="2700000" algn="bl" rotWithShape="0">
              <a:srgbClr val="000000">
                <a:alpha val="18000"/>
              </a:srgbClr>
            </a:outerShdw>
          </a:effectLst>
        </p:spPr>
      </p:sp>
      <p:sp>
        <p:nvSpPr>
          <p:cNvPr id="5" name="Text 3"/>
          <p:cNvSpPr/>
          <p:nvPr/>
        </p:nvSpPr>
        <p:spPr>
          <a:xfrm>
            <a:off x="228600" y="841248"/>
            <a:ext cx="1993392" cy="56692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60%</a:t>
            </a:r>
            <a:endParaRPr lang="en-US" sz="3000" dirty="0"/>
          </a:p>
        </p:txBody>
      </p:sp>
      <p:sp>
        <p:nvSpPr>
          <p:cNvPr id="6" name="Text 4"/>
          <p:cNvSpPr/>
          <p:nvPr/>
        </p:nvSpPr>
        <p:spPr>
          <a:xfrm>
            <a:off x="228600" y="1389888"/>
            <a:ext cx="199339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Faster Triage</a:t>
            </a:r>
            <a:endParaRPr lang="en-US" sz="1100" dirty="0"/>
          </a:p>
        </p:txBody>
      </p:sp>
      <p:sp>
        <p:nvSpPr>
          <p:cNvPr id="7" name="Text 5"/>
          <p:cNvSpPr/>
          <p:nvPr/>
        </p:nvSpPr>
        <p:spPr>
          <a:xfrm>
            <a:off x="228600" y="1645920"/>
            <a:ext cx="1993392" cy="256032"/>
          </a:xfrm>
          <a:prstGeom prst="rect">
            <a:avLst/>
          </a:prstGeom>
          <a:noFill/>
          <a:ln/>
        </p:spPr>
        <p:txBody>
          <a:bodyPr wrap="square" lIns="0" tIns="0" rIns="0" bIns="0" rtlCol="0" anchor="ctr"/>
          <a:lstStyle/>
          <a:p>
            <a:pPr marL="0" indent="0" algn="ctr">
              <a:buNone/>
            </a:pPr>
            <a:r>
              <a:rPr lang="en-US" sz="900" dirty="0">
                <a:solidFill>
                  <a:srgbClr val="CCFBF1"/>
                </a:solidFill>
                <a:latin typeface="Calibri" pitchFamily="34" charset="0"/>
                <a:ea typeface="Calibri" pitchFamily="34" charset="-122"/>
                <a:cs typeface="Calibri" pitchFamily="34" charset="-120"/>
              </a:rPr>
              <a:t>AI cuts decision time</a:t>
            </a:r>
            <a:endParaRPr lang="en-US" sz="900" dirty="0"/>
          </a:p>
        </p:txBody>
      </p:sp>
      <p:sp>
        <p:nvSpPr>
          <p:cNvPr id="8" name="Shape 6"/>
          <p:cNvSpPr/>
          <p:nvPr/>
        </p:nvSpPr>
        <p:spPr>
          <a:xfrm>
            <a:off x="2423160" y="804672"/>
            <a:ext cx="2084832" cy="1170432"/>
          </a:xfrm>
          <a:prstGeom prst="roundRect">
            <a:avLst>
              <a:gd name="adj" fmla="val 7813"/>
            </a:avLst>
          </a:prstGeom>
          <a:solidFill>
            <a:srgbClr val="7C3AED"/>
          </a:solidFill>
          <a:ln w="12700">
            <a:solidFill>
              <a:srgbClr val="FFFFFF"/>
            </a:solidFill>
            <a:prstDash val="solid"/>
          </a:ln>
          <a:effectLst>
            <a:outerShdw blurRad="101600" dist="38100" dir="2700000" algn="bl" rotWithShape="0">
              <a:srgbClr val="000000">
                <a:alpha val="18000"/>
              </a:srgbClr>
            </a:outerShdw>
          </a:effectLst>
        </p:spPr>
      </p:sp>
      <p:sp>
        <p:nvSpPr>
          <p:cNvPr id="9" name="Text 7"/>
          <p:cNvSpPr/>
          <p:nvPr/>
        </p:nvSpPr>
        <p:spPr>
          <a:xfrm>
            <a:off x="2468880" y="841248"/>
            <a:ext cx="1993392" cy="56692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45</a:t>
            </a:r>
            <a:endParaRPr lang="en-US" sz="3000" dirty="0"/>
          </a:p>
        </p:txBody>
      </p:sp>
      <p:sp>
        <p:nvSpPr>
          <p:cNvPr id="10" name="Text 8"/>
          <p:cNvSpPr/>
          <p:nvPr/>
        </p:nvSpPr>
        <p:spPr>
          <a:xfrm>
            <a:off x="2468880" y="1389888"/>
            <a:ext cx="199339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Tests Passing</a:t>
            </a:r>
            <a:endParaRPr lang="en-US" sz="1100" dirty="0"/>
          </a:p>
        </p:txBody>
      </p:sp>
      <p:sp>
        <p:nvSpPr>
          <p:cNvPr id="11" name="Text 9"/>
          <p:cNvSpPr/>
          <p:nvPr/>
        </p:nvSpPr>
        <p:spPr>
          <a:xfrm>
            <a:off x="2468880" y="1645920"/>
            <a:ext cx="1993392" cy="256032"/>
          </a:xfrm>
          <a:prstGeom prst="rect">
            <a:avLst/>
          </a:prstGeom>
          <a:noFill/>
          <a:ln/>
        </p:spPr>
        <p:txBody>
          <a:bodyPr wrap="square" lIns="0" tIns="0" rIns="0" bIns="0" rtlCol="0" anchor="ctr"/>
          <a:lstStyle/>
          <a:p>
            <a:pPr marL="0" indent="0" algn="ctr">
              <a:buNone/>
            </a:pPr>
            <a:r>
              <a:rPr lang="en-US" sz="900" dirty="0">
                <a:solidFill>
                  <a:srgbClr val="CCFBF1"/>
                </a:solidFill>
                <a:latin typeface="Calibri" pitchFamily="34" charset="0"/>
                <a:ea typeface="Calibri" pitchFamily="34" charset="-122"/>
                <a:cs typeface="Calibri" pitchFamily="34" charset="-120"/>
              </a:rPr>
              <a:t>100% code coverage</a:t>
            </a:r>
            <a:endParaRPr lang="en-US" sz="900" dirty="0"/>
          </a:p>
        </p:txBody>
      </p:sp>
      <p:sp>
        <p:nvSpPr>
          <p:cNvPr id="12" name="Shape 10"/>
          <p:cNvSpPr/>
          <p:nvPr/>
        </p:nvSpPr>
        <p:spPr>
          <a:xfrm>
            <a:off x="4663440" y="804672"/>
            <a:ext cx="2084832" cy="1170432"/>
          </a:xfrm>
          <a:prstGeom prst="roundRect">
            <a:avLst>
              <a:gd name="adj" fmla="val 7813"/>
            </a:avLst>
          </a:prstGeom>
          <a:solidFill>
            <a:srgbClr val="B45309"/>
          </a:solidFill>
          <a:ln w="12700">
            <a:solidFill>
              <a:srgbClr val="FFFFFF"/>
            </a:solidFill>
            <a:prstDash val="solid"/>
          </a:ln>
          <a:effectLst>
            <a:outerShdw blurRad="101600" dist="38100" dir="2700000" algn="bl" rotWithShape="0">
              <a:srgbClr val="000000">
                <a:alpha val="18000"/>
              </a:srgbClr>
            </a:outerShdw>
          </a:effectLst>
        </p:spPr>
      </p:sp>
      <p:sp>
        <p:nvSpPr>
          <p:cNvPr id="13" name="Text 11"/>
          <p:cNvSpPr/>
          <p:nvPr/>
        </p:nvSpPr>
        <p:spPr>
          <a:xfrm>
            <a:off x="4709160" y="841248"/>
            <a:ext cx="1993392" cy="56692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~100ms</a:t>
            </a:r>
            <a:endParaRPr lang="en-US" sz="3000" dirty="0"/>
          </a:p>
        </p:txBody>
      </p:sp>
      <p:sp>
        <p:nvSpPr>
          <p:cNvPr id="14" name="Text 12"/>
          <p:cNvSpPr/>
          <p:nvPr/>
        </p:nvSpPr>
        <p:spPr>
          <a:xfrm>
            <a:off x="4709160" y="1389888"/>
            <a:ext cx="199339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Heap Rebuild</a:t>
            </a:r>
            <a:endParaRPr lang="en-US" sz="1100" dirty="0"/>
          </a:p>
        </p:txBody>
      </p:sp>
      <p:sp>
        <p:nvSpPr>
          <p:cNvPr id="15" name="Text 13"/>
          <p:cNvSpPr/>
          <p:nvPr/>
        </p:nvSpPr>
        <p:spPr>
          <a:xfrm>
            <a:off x="4709160" y="1645920"/>
            <a:ext cx="1993392" cy="256032"/>
          </a:xfrm>
          <a:prstGeom prst="rect">
            <a:avLst/>
          </a:prstGeom>
          <a:noFill/>
          <a:ln/>
        </p:spPr>
        <p:txBody>
          <a:bodyPr wrap="square" lIns="0" tIns="0" rIns="0" bIns="0" rtlCol="0" anchor="ctr"/>
          <a:lstStyle/>
          <a:p>
            <a:pPr marL="0" indent="0" algn="ctr">
              <a:buNone/>
            </a:pPr>
            <a:r>
              <a:rPr lang="en-US" sz="900" dirty="0">
                <a:solidFill>
                  <a:srgbClr val="CCFBF1"/>
                </a:solidFill>
                <a:latin typeface="Calibri" pitchFamily="34" charset="0"/>
                <a:ea typeface="Calibri" pitchFamily="34" charset="-122"/>
                <a:cs typeface="Calibri" pitchFamily="34" charset="-120"/>
              </a:rPr>
              <a:t>Zero data loss on restart</a:t>
            </a:r>
            <a:endParaRPr lang="en-US" sz="900" dirty="0"/>
          </a:p>
        </p:txBody>
      </p:sp>
      <p:sp>
        <p:nvSpPr>
          <p:cNvPr id="16" name="Shape 14"/>
          <p:cNvSpPr/>
          <p:nvPr/>
        </p:nvSpPr>
        <p:spPr>
          <a:xfrm>
            <a:off x="6903720" y="804672"/>
            <a:ext cx="2084832" cy="1170432"/>
          </a:xfrm>
          <a:prstGeom prst="roundRect">
            <a:avLst>
              <a:gd name="adj" fmla="val 7813"/>
            </a:avLst>
          </a:prstGeom>
          <a:solidFill>
            <a:srgbClr val="1D5FA1"/>
          </a:solidFill>
          <a:ln w="12700">
            <a:solidFill>
              <a:srgbClr val="FFFFFF"/>
            </a:solidFill>
            <a:prstDash val="solid"/>
          </a:ln>
          <a:effectLst>
            <a:outerShdw blurRad="101600" dist="38100" dir="2700000" algn="bl" rotWithShape="0">
              <a:srgbClr val="000000">
                <a:alpha val="18000"/>
              </a:srgbClr>
            </a:outerShdw>
          </a:effectLst>
        </p:spPr>
      </p:sp>
      <p:sp>
        <p:nvSpPr>
          <p:cNvPr id="17" name="Text 15"/>
          <p:cNvSpPr/>
          <p:nvPr/>
        </p:nvSpPr>
        <p:spPr>
          <a:xfrm>
            <a:off x="6949440" y="841248"/>
            <a:ext cx="1993392" cy="56692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O(log n)</a:t>
            </a:r>
            <a:endParaRPr lang="en-US" sz="3000" dirty="0"/>
          </a:p>
        </p:txBody>
      </p:sp>
      <p:sp>
        <p:nvSpPr>
          <p:cNvPr id="18" name="Text 16"/>
          <p:cNvSpPr/>
          <p:nvPr/>
        </p:nvSpPr>
        <p:spPr>
          <a:xfrm>
            <a:off x="6949440" y="1389888"/>
            <a:ext cx="199339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Queue Speed</a:t>
            </a:r>
            <a:endParaRPr lang="en-US" sz="1100" dirty="0"/>
          </a:p>
        </p:txBody>
      </p:sp>
      <p:sp>
        <p:nvSpPr>
          <p:cNvPr id="19" name="Text 17"/>
          <p:cNvSpPr/>
          <p:nvPr/>
        </p:nvSpPr>
        <p:spPr>
          <a:xfrm>
            <a:off x="6949440" y="1645920"/>
            <a:ext cx="1993392" cy="256032"/>
          </a:xfrm>
          <a:prstGeom prst="rect">
            <a:avLst/>
          </a:prstGeom>
          <a:noFill/>
          <a:ln/>
        </p:spPr>
        <p:txBody>
          <a:bodyPr wrap="square" lIns="0" tIns="0" rIns="0" bIns="0" rtlCol="0" anchor="ctr"/>
          <a:lstStyle/>
          <a:p>
            <a:pPr marL="0" indent="0" algn="ctr">
              <a:buNone/>
            </a:pPr>
            <a:r>
              <a:rPr lang="en-US" sz="900" dirty="0">
                <a:solidFill>
                  <a:srgbClr val="CCFBF1"/>
                </a:solidFill>
                <a:latin typeface="Calibri" pitchFamily="34" charset="0"/>
                <a:ea typeface="Calibri" pitchFamily="34" charset="-122"/>
                <a:cs typeface="Calibri" pitchFamily="34" charset="-120"/>
              </a:rPr>
              <a:t>Handles 1000+ patients</a:t>
            </a:r>
            <a:endParaRPr lang="en-US" sz="900" dirty="0"/>
          </a:p>
        </p:txBody>
      </p:sp>
      <p:sp>
        <p:nvSpPr>
          <p:cNvPr id="20" name="Text 18"/>
          <p:cNvSpPr/>
          <p:nvPr/>
        </p:nvSpPr>
        <p:spPr>
          <a:xfrm>
            <a:off x="274320" y="2103120"/>
            <a:ext cx="8595360" cy="347472"/>
          </a:xfrm>
          <a:prstGeom prst="rect">
            <a:avLst/>
          </a:prstGeom>
          <a:noFill/>
          <a:ln/>
        </p:spPr>
        <p:txBody>
          <a:bodyPr wrap="square" lIns="0" tIns="0" rIns="0" bIns="0" rtlCol="0" anchor="ctr"/>
          <a:lstStyle/>
          <a:p>
            <a:pPr marL="0" indent="0" algn="l">
              <a:buNone/>
            </a:pPr>
            <a:r>
              <a:rPr lang="en-US" sz="1400" b="1" dirty="0">
                <a:solidFill>
                  <a:srgbClr val="14B8A6"/>
                </a:solidFill>
                <a:latin typeface="Cambria" pitchFamily="34" charset="0"/>
                <a:ea typeface="Cambria" pitchFamily="34" charset="-122"/>
                <a:cs typeface="Cambria" pitchFamily="34" charset="-120"/>
              </a:rPr>
              <a:t>What This System Achieves:</a:t>
            </a:r>
            <a:endParaRPr lang="en-US" sz="1400" dirty="0"/>
          </a:p>
        </p:txBody>
      </p:sp>
      <p:sp>
        <p:nvSpPr>
          <p:cNvPr id="21" name="Shape 19"/>
          <p:cNvSpPr/>
          <p:nvPr/>
        </p:nvSpPr>
        <p:spPr>
          <a:xfrm>
            <a:off x="182880" y="2542032"/>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22" name="Text 20"/>
          <p:cNvSpPr/>
          <p:nvPr/>
        </p:nvSpPr>
        <p:spPr>
          <a:xfrm>
            <a:off x="310896" y="2596896"/>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Correct Priority, Every Time</a:t>
            </a:r>
            <a:endParaRPr lang="en-US" sz="1150" dirty="0"/>
          </a:p>
        </p:txBody>
      </p:sp>
      <p:sp>
        <p:nvSpPr>
          <p:cNvPr id="23" name="Text 21"/>
          <p:cNvSpPr/>
          <p:nvPr/>
        </p:nvSpPr>
        <p:spPr>
          <a:xfrm>
            <a:off x="310896" y="2871216"/>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The right patient is always treated first — sickest patients automatically go to the top of the queue.</a:t>
            </a:r>
            <a:endParaRPr lang="en-US" sz="1000" dirty="0"/>
          </a:p>
        </p:txBody>
      </p:sp>
      <p:sp>
        <p:nvSpPr>
          <p:cNvPr id="24" name="Shape 22"/>
          <p:cNvSpPr/>
          <p:nvPr/>
        </p:nvSpPr>
        <p:spPr>
          <a:xfrm>
            <a:off x="182880" y="3419856"/>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25" name="Text 23"/>
          <p:cNvSpPr/>
          <p:nvPr/>
        </p:nvSpPr>
        <p:spPr>
          <a:xfrm>
            <a:off x="310896" y="3474720"/>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No Patient Left Behind</a:t>
            </a:r>
            <a:endParaRPr lang="en-US" sz="1150" dirty="0"/>
          </a:p>
        </p:txBody>
      </p:sp>
      <p:sp>
        <p:nvSpPr>
          <p:cNvPr id="26" name="Text 24"/>
          <p:cNvSpPr/>
          <p:nvPr/>
        </p:nvSpPr>
        <p:spPr>
          <a:xfrm>
            <a:off x="310896" y="3749040"/>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Wait-time aging ensures that even low-priority patients are escalated if they wait too long.</a:t>
            </a:r>
            <a:endParaRPr lang="en-US" sz="1000" dirty="0"/>
          </a:p>
        </p:txBody>
      </p:sp>
      <p:sp>
        <p:nvSpPr>
          <p:cNvPr id="27" name="Shape 25"/>
          <p:cNvSpPr/>
          <p:nvPr/>
        </p:nvSpPr>
        <p:spPr>
          <a:xfrm>
            <a:off x="182880" y="4297680"/>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28" name="Text 26"/>
          <p:cNvSpPr/>
          <p:nvPr/>
        </p:nvSpPr>
        <p:spPr>
          <a:xfrm>
            <a:off x="310896" y="4352544"/>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AI Helps Doctors Decide Faster</a:t>
            </a:r>
            <a:endParaRPr lang="en-US" sz="1150" dirty="0"/>
          </a:p>
        </p:txBody>
      </p:sp>
      <p:sp>
        <p:nvSpPr>
          <p:cNvPr id="29" name="Text 27"/>
          <p:cNvSpPr/>
          <p:nvPr/>
        </p:nvSpPr>
        <p:spPr>
          <a:xfrm>
            <a:off x="310896" y="4626864"/>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Instead of guessing, doctors get an AI recommendation they can accept or change — reducing mental load during emergencies.</a:t>
            </a:r>
            <a:endParaRPr lang="en-US" sz="1000" dirty="0"/>
          </a:p>
        </p:txBody>
      </p:sp>
      <p:sp>
        <p:nvSpPr>
          <p:cNvPr id="30" name="Shape 28"/>
          <p:cNvSpPr/>
          <p:nvPr/>
        </p:nvSpPr>
        <p:spPr>
          <a:xfrm>
            <a:off x="4709160" y="2542032"/>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31" name="Text 29"/>
          <p:cNvSpPr/>
          <p:nvPr/>
        </p:nvSpPr>
        <p:spPr>
          <a:xfrm>
            <a:off x="4837176" y="2596896"/>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Data Survives Server Crashes</a:t>
            </a:r>
            <a:endParaRPr lang="en-US" sz="1150" dirty="0"/>
          </a:p>
        </p:txBody>
      </p:sp>
      <p:sp>
        <p:nvSpPr>
          <p:cNvPr id="32" name="Text 30"/>
          <p:cNvSpPr/>
          <p:nvPr/>
        </p:nvSpPr>
        <p:spPr>
          <a:xfrm>
            <a:off x="4837176" y="2871216"/>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PostgreSQL saves everything. If the system restarts, the queue is restored from database in about 100 milliseconds.</a:t>
            </a:r>
            <a:endParaRPr lang="en-US" sz="1000" dirty="0"/>
          </a:p>
        </p:txBody>
      </p:sp>
      <p:sp>
        <p:nvSpPr>
          <p:cNvPr id="33" name="Shape 31"/>
          <p:cNvSpPr/>
          <p:nvPr/>
        </p:nvSpPr>
        <p:spPr>
          <a:xfrm>
            <a:off x="4709160" y="3419856"/>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34" name="Text 32"/>
          <p:cNvSpPr/>
          <p:nvPr/>
        </p:nvSpPr>
        <p:spPr>
          <a:xfrm>
            <a:off x="4837176" y="3474720"/>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Full History &amp; Accountability</a:t>
            </a:r>
            <a:endParaRPr lang="en-US" sz="1150" dirty="0"/>
          </a:p>
        </p:txBody>
      </p:sp>
      <p:sp>
        <p:nvSpPr>
          <p:cNvPr id="35" name="Text 33"/>
          <p:cNvSpPr/>
          <p:nvPr/>
        </p:nvSpPr>
        <p:spPr>
          <a:xfrm>
            <a:off x="4837176" y="3749040"/>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Every action is recorded. Hospitals can review who was treated when, why priority changed, and how AI performed.</a:t>
            </a:r>
            <a:endParaRPr lang="en-US" sz="1000" dirty="0"/>
          </a:p>
        </p:txBody>
      </p:sp>
      <p:sp>
        <p:nvSpPr>
          <p:cNvPr id="36" name="Shape 34"/>
          <p:cNvSpPr/>
          <p:nvPr/>
        </p:nvSpPr>
        <p:spPr>
          <a:xfrm>
            <a:off x="4709160" y="4297680"/>
            <a:ext cx="4279392" cy="768096"/>
          </a:xfrm>
          <a:prstGeom prst="roundRect">
            <a:avLst>
              <a:gd name="adj" fmla="val 9524"/>
            </a:avLst>
          </a:prstGeom>
          <a:solidFill>
            <a:srgbClr val="12305C"/>
          </a:solidFill>
          <a:ln w="12700">
            <a:solidFill>
              <a:srgbClr val="14B8A6"/>
            </a:solidFill>
            <a:prstDash val="solid"/>
          </a:ln>
          <a:effectLst>
            <a:outerShdw blurRad="101600" dist="38100" dir="2700000" algn="bl" rotWithShape="0">
              <a:srgbClr val="000000">
                <a:alpha val="18000"/>
              </a:srgbClr>
            </a:outerShdw>
          </a:effectLst>
        </p:spPr>
      </p:sp>
      <p:sp>
        <p:nvSpPr>
          <p:cNvPr id="37" name="Text 35"/>
          <p:cNvSpPr/>
          <p:nvPr/>
        </p:nvSpPr>
        <p:spPr>
          <a:xfrm>
            <a:off x="4837176" y="4352544"/>
            <a:ext cx="4023360" cy="256032"/>
          </a:xfrm>
          <a:prstGeom prst="rect">
            <a:avLst/>
          </a:prstGeom>
          <a:noFill/>
          <a:ln/>
        </p:spPr>
        <p:txBody>
          <a:bodyPr wrap="square" lIns="0" tIns="0" rIns="0" bIns="0" rtlCol="0" anchor="t"/>
          <a:lstStyle/>
          <a:p>
            <a:pPr marL="0" indent="0" algn="l">
              <a:buNone/>
            </a:pPr>
            <a:r>
              <a:rPr lang="en-US" sz="1150" b="1" dirty="0">
                <a:solidFill>
                  <a:srgbClr val="14B8A6"/>
                </a:solidFill>
                <a:latin typeface="Calibri" pitchFamily="34" charset="0"/>
                <a:ea typeface="Calibri" pitchFamily="34" charset="-122"/>
                <a:cs typeface="Calibri" pitchFamily="34" charset="-120"/>
              </a:rPr>
              <a:t>✅  Scalable and Ready to Grow</a:t>
            </a:r>
            <a:endParaRPr lang="en-US" sz="1150" dirty="0"/>
          </a:p>
        </p:txBody>
      </p:sp>
      <p:sp>
        <p:nvSpPr>
          <p:cNvPr id="38" name="Text 36"/>
          <p:cNvSpPr/>
          <p:nvPr/>
        </p:nvSpPr>
        <p:spPr>
          <a:xfrm>
            <a:off x="4837176" y="4626864"/>
            <a:ext cx="4023360" cy="384048"/>
          </a:xfrm>
          <a:prstGeom prst="rect">
            <a:avLst/>
          </a:prstGeom>
          <a:noFill/>
          <a:ln/>
        </p:spPr>
        <p:txBody>
          <a:bodyPr wrap="square" lIns="0" tIns="0" rIns="0" bIns="0"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The system can handle thousands of patients and is designed to be extended with features like WebSockets and authentication.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9488"/>
          </a:solidFill>
          <a:ln w="12700">
            <a:solidFill>
              <a:srgbClr val="0D9488"/>
            </a:solidFill>
            <a:prstDash val="solid"/>
          </a:ln>
        </p:spPr>
      </p:sp>
      <p:sp>
        <p:nvSpPr>
          <p:cNvPr id="3" name="Text 1"/>
          <p:cNvSpPr/>
          <p:nvPr/>
        </p:nvSpPr>
        <p:spPr>
          <a:xfrm>
            <a:off x="365760" y="0"/>
            <a:ext cx="8412480" cy="713232"/>
          </a:xfrm>
          <a:prstGeom prst="rect">
            <a:avLst/>
          </a:prstGeom>
          <a:noFill/>
          <a:ln/>
        </p:spPr>
        <p:txBody>
          <a:bodyPr wrap="square" lIns="0" tIns="0" rIns="0" bIns="0" rtlCol="0" anchor="ctr"/>
          <a:lstStyle/>
          <a:p>
            <a:pPr marL="0" indent="0" algn="ctr">
              <a:buNone/>
            </a:pPr>
            <a:r>
              <a:rPr lang="en-US" sz="2200" b="1" kern="0" spc="300" dirty="0">
                <a:solidFill>
                  <a:srgbClr val="FFFFFF"/>
                </a:solidFill>
                <a:latin typeface="Cambria" pitchFamily="34" charset="0"/>
                <a:ea typeface="Cambria" pitchFamily="34" charset="-122"/>
                <a:cs typeface="Cambria" pitchFamily="34" charset="-120"/>
              </a:rPr>
              <a:t>ADVANTAGES  &amp;  LIMITATIONS</a:t>
            </a:r>
            <a:endParaRPr lang="en-US" sz="2200" dirty="0"/>
          </a:p>
        </p:txBody>
      </p:sp>
      <p:sp>
        <p:nvSpPr>
          <p:cNvPr id="4" name="Shape 2"/>
          <p:cNvSpPr/>
          <p:nvPr/>
        </p:nvSpPr>
        <p:spPr>
          <a:xfrm>
            <a:off x="274320" y="868680"/>
            <a:ext cx="4023360" cy="4005072"/>
          </a:xfrm>
          <a:prstGeom prst="roundRect">
            <a:avLst>
              <a:gd name="adj" fmla="val 2740"/>
            </a:avLst>
          </a:prstGeom>
          <a:solidFill>
            <a:srgbClr val="0A2F1F"/>
          </a:solidFill>
          <a:ln w="12700">
            <a:solidFill>
              <a:srgbClr val="14B8A6"/>
            </a:solidFill>
            <a:prstDash val="solid"/>
          </a:ln>
          <a:effectLst>
            <a:outerShdw blurRad="101600" dist="38100" dir="2700000" algn="bl" rotWithShape="0">
              <a:srgbClr val="000000">
                <a:alpha val="18000"/>
              </a:srgbClr>
            </a:outerShdw>
          </a:effectLst>
        </p:spPr>
      </p:sp>
      <p:sp>
        <p:nvSpPr>
          <p:cNvPr id="5" name="Text 3"/>
          <p:cNvSpPr/>
          <p:nvPr/>
        </p:nvSpPr>
        <p:spPr>
          <a:xfrm>
            <a:off x="457200" y="987552"/>
            <a:ext cx="3657600" cy="402336"/>
          </a:xfrm>
          <a:prstGeom prst="rect">
            <a:avLst/>
          </a:prstGeom>
          <a:noFill/>
          <a:ln/>
        </p:spPr>
        <p:txBody>
          <a:bodyPr wrap="square" lIns="0" tIns="0" rIns="0" bIns="0" rtlCol="0" anchor="ctr"/>
          <a:lstStyle/>
          <a:p>
            <a:pPr marL="0" indent="0" algn="l">
              <a:buNone/>
            </a:pPr>
            <a:r>
              <a:rPr lang="en-US" sz="1400" b="1" dirty="0">
                <a:solidFill>
                  <a:srgbClr val="14B8A6"/>
                </a:solidFill>
                <a:latin typeface="Cambria" pitchFamily="34" charset="0"/>
                <a:ea typeface="Cambria" pitchFamily="34" charset="-122"/>
                <a:cs typeface="Cambria" pitchFamily="34" charset="-120"/>
              </a:rPr>
              <a:t>✅  ADVANTAGES</a:t>
            </a:r>
            <a:endParaRPr lang="en-US" sz="1400" dirty="0"/>
          </a:p>
        </p:txBody>
      </p:sp>
      <p:sp>
        <p:nvSpPr>
          <p:cNvPr id="6" name="Shape 4"/>
          <p:cNvSpPr/>
          <p:nvPr/>
        </p:nvSpPr>
        <p:spPr>
          <a:xfrm>
            <a:off x="475488" y="1508760"/>
            <a:ext cx="146304" cy="146304"/>
          </a:xfrm>
          <a:prstGeom prst="ellipse">
            <a:avLst/>
          </a:prstGeom>
          <a:solidFill>
            <a:srgbClr val="14B8A6"/>
          </a:solidFill>
          <a:ln w="12700">
            <a:solidFill>
              <a:srgbClr val="14B8A6"/>
            </a:solidFill>
            <a:prstDash val="solid"/>
          </a:ln>
        </p:spPr>
      </p:sp>
      <p:sp>
        <p:nvSpPr>
          <p:cNvPr id="7" name="Text 5"/>
          <p:cNvSpPr/>
          <p:nvPr/>
        </p:nvSpPr>
        <p:spPr>
          <a:xfrm>
            <a:off x="713232" y="14447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AI reduces triage time by ~60% and standardizes priority decisions across all shifts</a:t>
            </a:r>
            <a:endParaRPr lang="en-US" sz="1050" dirty="0"/>
          </a:p>
        </p:txBody>
      </p:sp>
      <p:sp>
        <p:nvSpPr>
          <p:cNvPr id="8" name="Shape 6"/>
          <p:cNvSpPr/>
          <p:nvPr/>
        </p:nvSpPr>
        <p:spPr>
          <a:xfrm>
            <a:off x="475488" y="1965960"/>
            <a:ext cx="146304" cy="146304"/>
          </a:xfrm>
          <a:prstGeom prst="ellipse">
            <a:avLst/>
          </a:prstGeom>
          <a:solidFill>
            <a:srgbClr val="14B8A6"/>
          </a:solidFill>
          <a:ln w="12700">
            <a:solidFill>
              <a:srgbClr val="14B8A6"/>
            </a:solidFill>
            <a:prstDash val="solid"/>
          </a:ln>
        </p:spPr>
      </p:sp>
      <p:sp>
        <p:nvSpPr>
          <p:cNvPr id="9" name="Text 7"/>
          <p:cNvSpPr/>
          <p:nvPr/>
        </p:nvSpPr>
        <p:spPr>
          <a:xfrm>
            <a:off x="713232" y="19019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O(log n) heap ensures blazingly fast patient insertion and extraction at any scale</a:t>
            </a:r>
            <a:endParaRPr lang="en-US" sz="1050" dirty="0"/>
          </a:p>
        </p:txBody>
      </p:sp>
      <p:sp>
        <p:nvSpPr>
          <p:cNvPr id="10" name="Shape 8"/>
          <p:cNvSpPr/>
          <p:nvPr/>
        </p:nvSpPr>
        <p:spPr>
          <a:xfrm>
            <a:off x="475488" y="2423160"/>
            <a:ext cx="146304" cy="146304"/>
          </a:xfrm>
          <a:prstGeom prst="ellipse">
            <a:avLst/>
          </a:prstGeom>
          <a:solidFill>
            <a:srgbClr val="14B8A6"/>
          </a:solidFill>
          <a:ln w="12700">
            <a:solidFill>
              <a:srgbClr val="14B8A6"/>
            </a:solidFill>
            <a:prstDash val="solid"/>
          </a:ln>
        </p:spPr>
      </p:sp>
      <p:sp>
        <p:nvSpPr>
          <p:cNvPr id="11" name="Text 9"/>
          <p:cNvSpPr/>
          <p:nvPr/>
        </p:nvSpPr>
        <p:spPr>
          <a:xfrm>
            <a:off x="713232" y="23591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Zero data loss on server restart — heap rebuilds from PostgreSQL in ~100ms</a:t>
            </a:r>
            <a:endParaRPr lang="en-US" sz="1050" dirty="0"/>
          </a:p>
        </p:txBody>
      </p:sp>
      <p:sp>
        <p:nvSpPr>
          <p:cNvPr id="12" name="Shape 10"/>
          <p:cNvSpPr/>
          <p:nvPr/>
        </p:nvSpPr>
        <p:spPr>
          <a:xfrm>
            <a:off x="475488" y="2880360"/>
            <a:ext cx="146304" cy="146304"/>
          </a:xfrm>
          <a:prstGeom prst="ellipse">
            <a:avLst/>
          </a:prstGeom>
          <a:solidFill>
            <a:srgbClr val="14B8A6"/>
          </a:solidFill>
          <a:ln w="12700">
            <a:solidFill>
              <a:srgbClr val="14B8A6"/>
            </a:solidFill>
            <a:prstDash val="solid"/>
          </a:ln>
        </p:spPr>
      </p:sp>
      <p:sp>
        <p:nvSpPr>
          <p:cNvPr id="13" name="Text 11"/>
          <p:cNvSpPr/>
          <p:nvPr/>
        </p:nvSpPr>
        <p:spPr>
          <a:xfrm>
            <a:off x="713232" y="28163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Wait-time aging prevents starvation of low-priority patients over time</a:t>
            </a:r>
            <a:endParaRPr lang="en-US" sz="1050" dirty="0"/>
          </a:p>
        </p:txBody>
      </p:sp>
      <p:sp>
        <p:nvSpPr>
          <p:cNvPr id="14" name="Shape 12"/>
          <p:cNvSpPr/>
          <p:nvPr/>
        </p:nvSpPr>
        <p:spPr>
          <a:xfrm>
            <a:off x="475488" y="3337560"/>
            <a:ext cx="146304" cy="146304"/>
          </a:xfrm>
          <a:prstGeom prst="ellipse">
            <a:avLst/>
          </a:prstGeom>
          <a:solidFill>
            <a:srgbClr val="14B8A6"/>
          </a:solidFill>
          <a:ln w="12700">
            <a:solidFill>
              <a:srgbClr val="14B8A6"/>
            </a:solidFill>
            <a:prstDash val="solid"/>
          </a:ln>
        </p:spPr>
      </p:sp>
      <p:sp>
        <p:nvSpPr>
          <p:cNvPr id="15" name="Text 13"/>
          <p:cNvSpPr/>
          <p:nvPr/>
        </p:nvSpPr>
        <p:spPr>
          <a:xfrm>
            <a:off x="713232" y="32735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Full audit trail enables compliance, quality reviews, and AI decision analysis</a:t>
            </a:r>
            <a:endParaRPr lang="en-US" sz="1050" dirty="0"/>
          </a:p>
        </p:txBody>
      </p:sp>
      <p:sp>
        <p:nvSpPr>
          <p:cNvPr id="16" name="Shape 14"/>
          <p:cNvSpPr/>
          <p:nvPr/>
        </p:nvSpPr>
        <p:spPr>
          <a:xfrm>
            <a:off x="475488" y="3794760"/>
            <a:ext cx="146304" cy="146304"/>
          </a:xfrm>
          <a:prstGeom prst="ellipse">
            <a:avLst/>
          </a:prstGeom>
          <a:solidFill>
            <a:srgbClr val="14B8A6"/>
          </a:solidFill>
          <a:ln w="12700">
            <a:solidFill>
              <a:srgbClr val="14B8A6"/>
            </a:solidFill>
            <a:prstDash val="solid"/>
          </a:ln>
        </p:spPr>
      </p:sp>
      <p:sp>
        <p:nvSpPr>
          <p:cNvPr id="17" name="Text 15"/>
          <p:cNvSpPr/>
          <p:nvPr/>
        </p:nvSpPr>
        <p:spPr>
          <a:xfrm>
            <a:off x="713232" y="37307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Graceful AI degradation — defaults to Priority 3 if Gemini is unavailable</a:t>
            </a:r>
            <a:endParaRPr lang="en-US" sz="1050" dirty="0"/>
          </a:p>
        </p:txBody>
      </p:sp>
      <p:sp>
        <p:nvSpPr>
          <p:cNvPr id="18" name="Shape 16"/>
          <p:cNvSpPr/>
          <p:nvPr/>
        </p:nvSpPr>
        <p:spPr>
          <a:xfrm>
            <a:off x="475488" y="4251960"/>
            <a:ext cx="146304" cy="146304"/>
          </a:xfrm>
          <a:prstGeom prst="ellipse">
            <a:avLst/>
          </a:prstGeom>
          <a:solidFill>
            <a:srgbClr val="14B8A6"/>
          </a:solidFill>
          <a:ln w="12700">
            <a:solidFill>
              <a:srgbClr val="14B8A6"/>
            </a:solidFill>
            <a:prstDash val="solid"/>
          </a:ln>
        </p:spPr>
      </p:sp>
      <p:sp>
        <p:nvSpPr>
          <p:cNvPr id="19" name="Text 17"/>
          <p:cNvSpPr/>
          <p:nvPr/>
        </p:nvSpPr>
        <p:spPr>
          <a:xfrm>
            <a:off x="713232" y="41879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45 pytest unit + integration tests with 100% code coverage ensure reliability</a:t>
            </a:r>
            <a:endParaRPr lang="en-US" sz="1050" dirty="0"/>
          </a:p>
        </p:txBody>
      </p:sp>
      <p:sp>
        <p:nvSpPr>
          <p:cNvPr id="20" name="Shape 18"/>
          <p:cNvSpPr/>
          <p:nvPr/>
        </p:nvSpPr>
        <p:spPr>
          <a:xfrm>
            <a:off x="4846320" y="868680"/>
            <a:ext cx="4023360" cy="4005072"/>
          </a:xfrm>
          <a:prstGeom prst="roundRect">
            <a:avLst>
              <a:gd name="adj" fmla="val 2740"/>
            </a:avLst>
          </a:prstGeom>
          <a:solidFill>
            <a:srgbClr val="2A1215"/>
          </a:solidFill>
          <a:ln w="12700">
            <a:solidFill>
              <a:srgbClr val="F87171"/>
            </a:solidFill>
            <a:prstDash val="solid"/>
          </a:ln>
          <a:effectLst>
            <a:outerShdw blurRad="101600" dist="38100" dir="2700000" algn="bl" rotWithShape="0">
              <a:srgbClr val="000000">
                <a:alpha val="18000"/>
              </a:srgbClr>
            </a:outerShdw>
          </a:effectLst>
        </p:spPr>
      </p:sp>
      <p:sp>
        <p:nvSpPr>
          <p:cNvPr id="21" name="Text 19"/>
          <p:cNvSpPr/>
          <p:nvPr/>
        </p:nvSpPr>
        <p:spPr>
          <a:xfrm>
            <a:off x="5029200" y="987552"/>
            <a:ext cx="3657600" cy="402336"/>
          </a:xfrm>
          <a:prstGeom prst="rect">
            <a:avLst/>
          </a:prstGeom>
          <a:noFill/>
          <a:ln/>
        </p:spPr>
        <p:txBody>
          <a:bodyPr wrap="square" lIns="0" tIns="0" rIns="0" bIns="0" rtlCol="0" anchor="ctr"/>
          <a:lstStyle/>
          <a:p>
            <a:pPr marL="0" indent="0" algn="l">
              <a:buNone/>
            </a:pPr>
            <a:r>
              <a:rPr lang="en-US" sz="1400" b="1" dirty="0">
                <a:solidFill>
                  <a:srgbClr val="FCA5A5"/>
                </a:solidFill>
                <a:latin typeface="Cambria" pitchFamily="34" charset="0"/>
                <a:ea typeface="Cambria" pitchFamily="34" charset="-122"/>
                <a:cs typeface="Cambria" pitchFamily="34" charset="-120"/>
              </a:rPr>
              <a:t>⚠️  LIMITATIONS</a:t>
            </a:r>
            <a:endParaRPr lang="en-US" sz="1400" dirty="0"/>
          </a:p>
        </p:txBody>
      </p:sp>
      <p:sp>
        <p:nvSpPr>
          <p:cNvPr id="22" name="Shape 20"/>
          <p:cNvSpPr/>
          <p:nvPr/>
        </p:nvSpPr>
        <p:spPr>
          <a:xfrm>
            <a:off x="5047488" y="1508760"/>
            <a:ext cx="146304" cy="146304"/>
          </a:xfrm>
          <a:prstGeom prst="ellipse">
            <a:avLst/>
          </a:prstGeom>
          <a:solidFill>
            <a:srgbClr val="F87171"/>
          </a:solidFill>
          <a:ln w="12700">
            <a:solidFill>
              <a:srgbClr val="F87171"/>
            </a:solidFill>
            <a:prstDash val="solid"/>
          </a:ln>
        </p:spPr>
      </p:sp>
      <p:sp>
        <p:nvSpPr>
          <p:cNvPr id="23" name="Text 21"/>
          <p:cNvSpPr/>
          <p:nvPr/>
        </p:nvSpPr>
        <p:spPr>
          <a:xfrm>
            <a:off x="5285232" y="14447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No user authentication — OAuth2/JWT required before production deployment</a:t>
            </a:r>
            <a:endParaRPr lang="en-US" sz="1050" dirty="0"/>
          </a:p>
        </p:txBody>
      </p:sp>
      <p:sp>
        <p:nvSpPr>
          <p:cNvPr id="24" name="Shape 22"/>
          <p:cNvSpPr/>
          <p:nvPr/>
        </p:nvSpPr>
        <p:spPr>
          <a:xfrm>
            <a:off x="5047488" y="1965960"/>
            <a:ext cx="146304" cy="146304"/>
          </a:xfrm>
          <a:prstGeom prst="ellipse">
            <a:avLst/>
          </a:prstGeom>
          <a:solidFill>
            <a:srgbClr val="F87171"/>
          </a:solidFill>
          <a:ln w="12700">
            <a:solidFill>
              <a:srgbClr val="F87171"/>
            </a:solidFill>
            <a:prstDash val="solid"/>
          </a:ln>
        </p:spPr>
      </p:sp>
      <p:sp>
        <p:nvSpPr>
          <p:cNvPr id="25" name="Text 23"/>
          <p:cNvSpPr/>
          <p:nvPr/>
        </p:nvSpPr>
        <p:spPr>
          <a:xfrm>
            <a:off x="5285232" y="19019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No rate limiting — Redis-based throttling needed for public-facing API</a:t>
            </a:r>
            <a:endParaRPr lang="en-US" sz="1050" dirty="0"/>
          </a:p>
        </p:txBody>
      </p:sp>
      <p:sp>
        <p:nvSpPr>
          <p:cNvPr id="26" name="Shape 24"/>
          <p:cNvSpPr/>
          <p:nvPr/>
        </p:nvSpPr>
        <p:spPr>
          <a:xfrm>
            <a:off x="5047488" y="2423160"/>
            <a:ext cx="146304" cy="146304"/>
          </a:xfrm>
          <a:prstGeom prst="ellipse">
            <a:avLst/>
          </a:prstGeom>
          <a:solidFill>
            <a:srgbClr val="F87171"/>
          </a:solidFill>
          <a:ln w="12700">
            <a:solidFill>
              <a:srgbClr val="F87171"/>
            </a:solidFill>
            <a:prstDash val="solid"/>
          </a:ln>
        </p:spPr>
      </p:sp>
      <p:sp>
        <p:nvSpPr>
          <p:cNvPr id="27" name="Text 25"/>
          <p:cNvSpPr/>
          <p:nvPr/>
        </p:nvSpPr>
        <p:spPr>
          <a:xfrm>
            <a:off x="5285232" y="23591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Single-server only — PgBouncer required for multi-server HA setup</a:t>
            </a:r>
            <a:endParaRPr lang="en-US" sz="1050" dirty="0"/>
          </a:p>
        </p:txBody>
      </p:sp>
      <p:sp>
        <p:nvSpPr>
          <p:cNvPr id="28" name="Shape 26"/>
          <p:cNvSpPr/>
          <p:nvPr/>
        </p:nvSpPr>
        <p:spPr>
          <a:xfrm>
            <a:off x="5047488" y="2880360"/>
            <a:ext cx="146304" cy="146304"/>
          </a:xfrm>
          <a:prstGeom prst="ellipse">
            <a:avLst/>
          </a:prstGeom>
          <a:solidFill>
            <a:srgbClr val="F87171"/>
          </a:solidFill>
          <a:ln w="12700">
            <a:solidFill>
              <a:srgbClr val="F87171"/>
            </a:solidFill>
            <a:prstDash val="solid"/>
          </a:ln>
        </p:spPr>
      </p:sp>
      <p:sp>
        <p:nvSpPr>
          <p:cNvPr id="29" name="Text 27"/>
          <p:cNvSpPr/>
          <p:nvPr/>
        </p:nvSpPr>
        <p:spPr>
          <a:xfrm>
            <a:off x="5285232" y="28163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No real-time WebSocket updates — Socket.io upgrade needed for live sync</a:t>
            </a:r>
            <a:endParaRPr lang="en-US" sz="1050" dirty="0"/>
          </a:p>
        </p:txBody>
      </p:sp>
      <p:sp>
        <p:nvSpPr>
          <p:cNvPr id="30" name="Shape 28"/>
          <p:cNvSpPr/>
          <p:nvPr/>
        </p:nvSpPr>
        <p:spPr>
          <a:xfrm>
            <a:off x="5047488" y="3337560"/>
            <a:ext cx="146304" cy="146304"/>
          </a:xfrm>
          <a:prstGeom prst="ellipse">
            <a:avLst/>
          </a:prstGeom>
          <a:solidFill>
            <a:srgbClr val="F87171"/>
          </a:solidFill>
          <a:ln w="12700">
            <a:solidFill>
              <a:srgbClr val="F87171"/>
            </a:solidFill>
            <a:prstDash val="solid"/>
          </a:ln>
        </p:spPr>
      </p:sp>
      <p:sp>
        <p:nvSpPr>
          <p:cNvPr id="31" name="Text 29"/>
          <p:cNvSpPr/>
          <p:nvPr/>
        </p:nvSpPr>
        <p:spPr>
          <a:xfrm>
            <a:off x="5285232" y="32735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Gemini free tier limited to 60 req/min — paid tier for high-volume ERs</a:t>
            </a:r>
            <a:endParaRPr lang="en-US" sz="1050" dirty="0"/>
          </a:p>
        </p:txBody>
      </p:sp>
      <p:sp>
        <p:nvSpPr>
          <p:cNvPr id="32" name="Shape 30"/>
          <p:cNvSpPr/>
          <p:nvPr/>
        </p:nvSpPr>
        <p:spPr>
          <a:xfrm>
            <a:off x="5047488" y="3794760"/>
            <a:ext cx="146304" cy="146304"/>
          </a:xfrm>
          <a:prstGeom prst="ellipse">
            <a:avLst/>
          </a:prstGeom>
          <a:solidFill>
            <a:srgbClr val="F87171"/>
          </a:solidFill>
          <a:ln w="12700">
            <a:solidFill>
              <a:srgbClr val="F87171"/>
            </a:solidFill>
            <a:prstDash val="solid"/>
          </a:ln>
        </p:spPr>
      </p:sp>
      <p:sp>
        <p:nvSpPr>
          <p:cNvPr id="33" name="Text 31"/>
          <p:cNvSpPr/>
          <p:nvPr/>
        </p:nvSpPr>
        <p:spPr>
          <a:xfrm>
            <a:off x="5285232" y="37307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In-memory heap only — valid up to ~100k patients before sharding needed</a:t>
            </a:r>
            <a:endParaRPr lang="en-US" sz="1050" dirty="0"/>
          </a:p>
        </p:txBody>
      </p:sp>
      <p:sp>
        <p:nvSpPr>
          <p:cNvPr id="34" name="Shape 32"/>
          <p:cNvSpPr/>
          <p:nvPr/>
        </p:nvSpPr>
        <p:spPr>
          <a:xfrm>
            <a:off x="5047488" y="4251960"/>
            <a:ext cx="146304" cy="146304"/>
          </a:xfrm>
          <a:prstGeom prst="ellipse">
            <a:avLst/>
          </a:prstGeom>
          <a:solidFill>
            <a:srgbClr val="F87171"/>
          </a:solidFill>
          <a:ln w="12700">
            <a:solidFill>
              <a:srgbClr val="F87171"/>
            </a:solidFill>
            <a:prstDash val="solid"/>
          </a:ln>
        </p:spPr>
      </p:sp>
      <p:sp>
        <p:nvSpPr>
          <p:cNvPr id="35" name="Text 33"/>
          <p:cNvSpPr/>
          <p:nvPr/>
        </p:nvSpPr>
        <p:spPr>
          <a:xfrm>
            <a:off x="5285232" y="4187952"/>
            <a:ext cx="3456432" cy="38404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No dark mode toggle — UI is always dark (fixed clinical preference)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286000" y="-2926080"/>
            <a:ext cx="4572000" cy="4572000"/>
          </a:xfrm>
          <a:prstGeom prst="ellipse">
            <a:avLst/>
          </a:prstGeom>
          <a:solidFill>
            <a:srgbClr val="0D9488">
              <a:alpha val="12000"/>
            </a:srgbClr>
          </a:solidFill>
          <a:ln w="12700">
            <a:solidFill>
              <a:srgbClr val="0D9488"/>
            </a:solidFill>
            <a:prstDash val="solid"/>
          </a:ln>
        </p:spPr>
      </p:sp>
      <p:sp>
        <p:nvSpPr>
          <p:cNvPr id="3" name="Shape 1"/>
          <p:cNvSpPr/>
          <p:nvPr/>
        </p:nvSpPr>
        <p:spPr>
          <a:xfrm>
            <a:off x="-1097280" y="3474720"/>
            <a:ext cx="4114800" cy="4114800"/>
          </a:xfrm>
          <a:prstGeom prst="ellipse">
            <a:avLst/>
          </a:prstGeom>
          <a:solidFill>
            <a:srgbClr val="14B8A6">
              <a:alpha val="10000"/>
            </a:srgbClr>
          </a:solidFill>
          <a:ln w="12700">
            <a:solidFill>
              <a:srgbClr val="14B8A6"/>
            </a:solidFill>
            <a:prstDash val="solid"/>
          </a:ln>
        </p:spPr>
      </p:sp>
      <p:sp>
        <p:nvSpPr>
          <p:cNvPr id="4" name="Shape 2"/>
          <p:cNvSpPr/>
          <p:nvPr/>
        </p:nvSpPr>
        <p:spPr>
          <a:xfrm>
            <a:off x="7772400" y="2560320"/>
            <a:ext cx="2743200" cy="2743200"/>
          </a:xfrm>
          <a:prstGeom prst="ellipse">
            <a:avLst/>
          </a:prstGeom>
          <a:solidFill>
            <a:srgbClr val="0D9488">
              <a:alpha val="15000"/>
            </a:srgbClr>
          </a:solidFill>
          <a:ln w="12700">
            <a:solidFill>
              <a:srgbClr val="0D9488"/>
            </a:solidFill>
            <a:prstDash val="solid"/>
          </a:ln>
        </p:spPr>
      </p:sp>
      <p:sp>
        <p:nvSpPr>
          <p:cNvPr id="5" name="Text 3"/>
          <p:cNvSpPr/>
          <p:nvPr/>
        </p:nvSpPr>
        <p:spPr>
          <a:xfrm>
            <a:off x="457200" y="640080"/>
            <a:ext cx="8229600" cy="1554480"/>
          </a:xfrm>
          <a:prstGeom prst="rect">
            <a:avLst/>
          </a:prstGeom>
          <a:noFill/>
          <a:ln/>
        </p:spPr>
        <p:txBody>
          <a:bodyPr wrap="square" lIns="0" tIns="0" rIns="0" bIns="0" rtlCol="0" anchor="ctr"/>
          <a:lstStyle/>
          <a:p>
            <a:pPr marL="0" indent="0" algn="ctr">
              <a:buNone/>
            </a:pPr>
            <a:r>
              <a:rPr lang="en-US" sz="7200" b="1" dirty="0">
                <a:solidFill>
                  <a:srgbClr val="14B8A6"/>
                </a:solidFill>
                <a:latin typeface="Cambria" pitchFamily="34" charset="0"/>
                <a:ea typeface="Cambria" pitchFamily="34" charset="-122"/>
                <a:cs typeface="Cambria" pitchFamily="34" charset="-120"/>
              </a:rPr>
              <a:t>Thank You</a:t>
            </a:r>
            <a:endParaRPr lang="en-US" sz="7200" dirty="0"/>
          </a:p>
        </p:txBody>
      </p:sp>
      <p:sp>
        <p:nvSpPr>
          <p:cNvPr id="6" name="Shape 4"/>
          <p:cNvSpPr/>
          <p:nvPr/>
        </p:nvSpPr>
        <p:spPr>
          <a:xfrm>
            <a:off x="3200400" y="2331720"/>
            <a:ext cx="2743200" cy="45720"/>
          </a:xfrm>
          <a:prstGeom prst="rect">
            <a:avLst/>
          </a:prstGeom>
          <a:solidFill>
            <a:srgbClr val="0D9488"/>
          </a:solidFill>
          <a:ln w="12700">
            <a:solidFill>
              <a:srgbClr val="0D9488"/>
            </a:solidFill>
            <a:prstDash val="solid"/>
          </a:ln>
        </p:spPr>
      </p:sp>
      <p:sp>
        <p:nvSpPr>
          <p:cNvPr id="7" name="Text 5"/>
          <p:cNvSpPr/>
          <p:nvPr/>
        </p:nvSpPr>
        <p:spPr>
          <a:xfrm>
            <a:off x="457200" y="2514600"/>
            <a:ext cx="8229600" cy="502920"/>
          </a:xfrm>
          <a:prstGeom prst="rect">
            <a:avLst/>
          </a:prstGeom>
          <a:noFill/>
          <a:ln/>
        </p:spPr>
        <p:txBody>
          <a:bodyPr wrap="square" lIns="0" tIns="0" rIns="0" bIns="0" rtlCol="0" anchor="ctr"/>
          <a:lstStyle/>
          <a:p>
            <a:pPr marL="0" indent="0" algn="ctr">
              <a:buNone/>
            </a:pPr>
            <a:r>
              <a:rPr lang="en-US" sz="1600" i="1" dirty="0">
                <a:solidFill>
                  <a:srgbClr val="CBD5E1"/>
                </a:solidFill>
                <a:latin typeface="Calibri" pitchFamily="34" charset="0"/>
                <a:ea typeface="Calibri" pitchFamily="34" charset="-122"/>
                <a:cs typeface="Calibri" pitchFamily="34" charset="-120"/>
              </a:rPr>
              <a:t>Hospital Emergency Queue Management System</a:t>
            </a:r>
            <a:endParaRPr lang="en-US" sz="1600" dirty="0"/>
          </a:p>
        </p:txBody>
      </p:sp>
      <p:sp>
        <p:nvSpPr>
          <p:cNvPr id="8" name="Shape 6"/>
          <p:cNvSpPr/>
          <p:nvPr/>
        </p:nvSpPr>
        <p:spPr>
          <a:xfrm>
            <a:off x="2743200" y="3200400"/>
            <a:ext cx="3657600" cy="822960"/>
          </a:xfrm>
          <a:prstGeom prst="roundRect">
            <a:avLst>
              <a:gd name="adj" fmla="val 13333"/>
            </a:avLst>
          </a:prstGeom>
          <a:solidFill>
            <a:srgbClr val="0D9488">
              <a:alpha val="85000"/>
            </a:srgbClr>
          </a:solidFill>
          <a:ln w="12700">
            <a:solidFill>
              <a:srgbClr val="14B8A6"/>
            </a:solidFill>
            <a:prstDash val="solid"/>
          </a:ln>
          <a:effectLst>
            <a:outerShdw blurRad="101600" dist="38100" dir="2700000" algn="bl" rotWithShape="0">
              <a:srgbClr val="000000">
                <a:alpha val="18000"/>
              </a:srgbClr>
            </a:outerShdw>
          </a:effectLst>
        </p:spPr>
      </p:sp>
      <p:sp>
        <p:nvSpPr>
          <p:cNvPr id="9" name="Text 7"/>
          <p:cNvSpPr/>
          <p:nvPr/>
        </p:nvSpPr>
        <p:spPr>
          <a:xfrm>
            <a:off x="2834640" y="3236976"/>
            <a:ext cx="3474720" cy="7498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 C VARALAKSHMI</a:t>
            </a:r>
            <a:endParaRPr lang="en-US" sz="2200" dirty="0"/>
          </a:p>
        </p:txBody>
      </p:sp>
      <p:sp>
        <p:nvSpPr>
          <p:cNvPr id="10" name="Text 8"/>
          <p:cNvSpPr/>
          <p:nvPr/>
        </p:nvSpPr>
        <p:spPr>
          <a:xfrm>
            <a:off x="2834640" y="3035808"/>
            <a:ext cx="3474720" cy="274320"/>
          </a:xfrm>
          <a:prstGeom prst="rect">
            <a:avLst/>
          </a:prstGeom>
          <a:noFill/>
          <a:ln/>
        </p:spPr>
        <p:txBody>
          <a:bodyPr wrap="square" lIns="0" tIns="0" rIns="0" bIns="0" rtlCol="0" anchor="ctr"/>
          <a:lstStyle/>
          <a:p>
            <a:pPr marL="0" indent="0" algn="ctr">
              <a:buNone/>
            </a:pPr>
            <a:r>
              <a:rPr lang="en-US" sz="1050" i="1" dirty="0">
                <a:solidFill>
                  <a:srgbClr val="94A3B8"/>
                </a:solidFill>
                <a:latin typeface="Calibri" pitchFamily="34" charset="0"/>
                <a:ea typeface="Calibri" pitchFamily="34" charset="-122"/>
                <a:cs typeface="Calibri" pitchFamily="34" charset="-120"/>
              </a:rPr>
              <a:t>Presented by</a:t>
            </a:r>
            <a:endParaRPr lang="en-US" sz="1050" dirty="0"/>
          </a:p>
        </p:txBody>
      </p:sp>
      <p:sp>
        <p:nvSpPr>
          <p:cNvPr id="11" name="Text 9"/>
          <p:cNvSpPr/>
          <p:nvPr/>
        </p:nvSpPr>
        <p:spPr>
          <a:xfrm>
            <a:off x="457200" y="4480560"/>
            <a:ext cx="8229600" cy="384048"/>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Intelligent Triage  ·  Faster Care  ·  Better Outcomes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1206</Words>
  <Application>Microsoft Office PowerPoint</Application>
  <PresentationFormat>On-screen Show (16:9)</PresentationFormat>
  <Paragraphs>164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Emergency Queue Management System</dc:title>
  <dc:subject>PptxGenJS Presentation</dc:subject>
  <dc:creator>PptxGenJS</dc:creator>
  <cp:lastModifiedBy>VARALAKSHMI T C</cp:lastModifiedBy>
  <cp:revision>1</cp:revision>
  <dcterms:created xsi:type="dcterms:W3CDTF">2026-06-21T08:43:05Z</dcterms:created>
  <dcterms:modified xsi:type="dcterms:W3CDTF">2026-06-21T10:47:03Z</dcterms:modified>
</cp:coreProperties>
</file>